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03DC2D-4753-6115-5F7D-F417E8811906}" v="503" dt="2026-05-12T18:49:19.392"/>
    <p1510:client id="{23A39C48-093E-683C-1530-DA066A1D3A72}" v="289" dt="2026-05-12T13:14:22.194"/>
    <p1510:client id="{2AE85E09-7D15-994E-0B06-DA286629F6DA}" v="1328" dt="2026-05-12T13:53:05.914"/>
    <p1510:client id="{9396DF0B-E2E2-AB37-D918-EC7B9974A3AB}" v="94" dt="2026-05-12T13:27:16.0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6" d="100"/>
          <a:sy n="36" d="100"/>
        </p:scale>
        <p:origin x="112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1110F-1B76-8242-AE2F-5F83B5239CF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BC786-02F2-434A-8334-C10171D85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876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1110F-1B76-8242-AE2F-5F83B5239CF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BC786-02F2-434A-8334-C10171D85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246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1110F-1B76-8242-AE2F-5F83B5239CF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BC786-02F2-434A-8334-C10171D85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387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1110F-1B76-8242-AE2F-5F83B5239CF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BC786-02F2-434A-8334-C10171D85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548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1110F-1B76-8242-AE2F-5F83B5239CF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BC786-02F2-434A-8334-C10171D85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36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1110F-1B76-8242-AE2F-5F83B5239CF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BC786-02F2-434A-8334-C10171D85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361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1110F-1B76-8242-AE2F-5F83B5239CF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BC786-02F2-434A-8334-C10171D85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911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1110F-1B76-8242-AE2F-5F83B5239CF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BC786-02F2-434A-8334-C10171D85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118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1110F-1B76-8242-AE2F-5F83B5239CF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BC786-02F2-434A-8334-C10171D85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587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1110F-1B76-8242-AE2F-5F83B5239CF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BC786-02F2-434A-8334-C10171D85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144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1110F-1B76-8242-AE2F-5F83B5239CF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BC786-02F2-434A-8334-C10171D85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641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1110F-1B76-8242-AE2F-5F83B5239CF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FBC786-02F2-434A-8334-C10171D85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895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2,115 Devops Stock Photos - Free &amp; Royalty-Free Stock Photos from Dreamstime">
            <a:extLst>
              <a:ext uri="{FF2B5EF4-FFF2-40B4-BE49-F238E27FC236}">
                <a16:creationId xmlns:a16="http://schemas.microsoft.com/office/drawing/2014/main" id="{F9737060-2FD2-EA59-3240-C2558FA4B5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523" b="-1"/>
          <a:stretch>
            <a:fillRect/>
          </a:stretch>
        </p:blipFill>
        <p:spPr>
          <a:xfrm>
            <a:off x="20" y="-7619"/>
            <a:ext cx="12191979" cy="6887364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4D60F200-5EB0-B223-2439-C96C67F0F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063219" y="-1252908"/>
            <a:ext cx="4065561" cy="12192000"/>
          </a:xfrm>
          <a:prstGeom prst="rect">
            <a:avLst/>
          </a:prstGeom>
          <a:gradFill flip="none" rotWithShape="1">
            <a:gsLst>
              <a:gs pos="17000">
                <a:srgbClr val="000000">
                  <a:alpha val="59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92CB243-67C5-E304-31A0-4D7D607BA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464116" y="322049"/>
            <a:ext cx="3067943" cy="2408606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1000">
                <a:schemeClr val="accent2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11A95761-C93E-94BF-087D-D2A823789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0392" y="4172881"/>
            <a:ext cx="7154743" cy="2702991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52000">
                <a:schemeClr val="accent2">
                  <a:alpha val="0"/>
                </a:schemeClr>
              </a:gs>
            </a:gsLst>
            <a:lin ang="4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9028" y="4873600"/>
            <a:ext cx="4849044" cy="1183602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sz="2000">
                <a:solidFill>
                  <a:srgbClr val="FFFFFF"/>
                </a:solidFill>
                <a:ea typeface="Calibri"/>
                <a:cs typeface="Calibri"/>
              </a:rPr>
              <a:t>Presented by: Jaden Lee, Faith Jones, Yesenia Caro, and Dante Vega</a:t>
            </a:r>
            <a:endParaRPr lang="en-US" sz="2000">
              <a:solidFill>
                <a:srgbClr val="FFFFFF"/>
              </a:solidFill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E63D1A5-FD49-4756-F62E-786C34E63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06736" y="-7619"/>
            <a:ext cx="995654" cy="6918113"/>
          </a:xfrm>
          <a:prstGeom prst="rect">
            <a:avLst/>
          </a:prstGeom>
          <a:gradFill flip="none" rotWithShape="1">
            <a:gsLst>
              <a:gs pos="0">
                <a:schemeClr val="accent5">
                  <a:alpha val="68000"/>
                </a:schemeClr>
              </a:gs>
              <a:gs pos="37000">
                <a:schemeClr val="accent5">
                  <a:alpha val="0"/>
                </a:schemeClr>
              </a:gs>
            </a:gsLst>
            <a:lin ang="10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251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114ED94A-C85D-4CD3-4205-438D21CE6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9217" y="-1"/>
            <a:ext cx="5213267" cy="6883030"/>
            <a:chOff x="-19217" y="-1"/>
            <a:chExt cx="5213267" cy="688303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642BDB2-BF67-1D53-1C70-0B41D709E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8E0D8CE-5DBF-B664-EB48-C29BF8AB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DFD140CE-7DE2-C88F-5EAE-F45EB69E6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57E87E3-413F-10EF-63D8-6016E986C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09AA5EC-B493-8CEC-3BE3-555A28E8B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484" y="739835"/>
            <a:ext cx="3702580" cy="1616203"/>
          </a:xfrm>
        </p:spPr>
        <p:txBody>
          <a:bodyPr anchor="b">
            <a:normAutofit/>
          </a:bodyPr>
          <a:lstStyle/>
          <a:p>
            <a:r>
              <a:rPr lang="en-US" sz="3200">
                <a:solidFill>
                  <a:srgbClr val="FFFFFF"/>
                </a:solidFill>
                <a:ea typeface="Calibri Light"/>
                <a:cs typeface="Calibri Light"/>
              </a:rPr>
              <a:t>What is DevOps</a:t>
            </a:r>
            <a:endParaRPr lang="en-US" sz="32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C10DA-08A6-EB1B-3322-41B19D8B8D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640" y="2459116"/>
            <a:ext cx="4444786" cy="416806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>
                <a:solidFill>
                  <a:srgbClr val="FFFFFF"/>
                </a:solidFill>
                <a:latin typeface="Aptos"/>
              </a:rPr>
              <a:t>DevOps is what bridges the gap between the development and operations teams. </a:t>
            </a:r>
            <a:endParaRPr lang="en-US" sz="1800">
              <a:solidFill>
                <a:srgbClr val="FFFFFF"/>
              </a:solidFill>
              <a:latin typeface="Calibri" panose="020F0502020204030204"/>
              <a:ea typeface="Calibri"/>
              <a:cs typeface="Calibri"/>
            </a:endParaRPr>
          </a:p>
          <a:p>
            <a:r>
              <a:rPr lang="en-US" sz="1800">
                <a:solidFill>
                  <a:srgbClr val="FFFFFF"/>
                </a:solidFill>
                <a:latin typeface="Aptos"/>
              </a:rPr>
              <a:t> Each phase flows into the next and continues forever which is how we end up with </a:t>
            </a:r>
            <a:r>
              <a:rPr lang="en-US" sz="1800" b="1" u="sng">
                <a:solidFill>
                  <a:srgbClr val="FFFFFF"/>
                </a:solidFill>
                <a:latin typeface="Aptos"/>
              </a:rPr>
              <a:t>Continuous Integration</a:t>
            </a:r>
          </a:p>
          <a:p>
            <a:r>
              <a:rPr lang="en-US" sz="1800">
                <a:solidFill>
                  <a:srgbClr val="FFFFFF"/>
                </a:solidFill>
                <a:latin typeface="Aptos"/>
                <a:ea typeface="Calibri"/>
                <a:cs typeface="Calibri"/>
              </a:rPr>
              <a:t>It allows them both to join as one when sending out new products like services and software’s we used today.</a:t>
            </a:r>
          </a:p>
          <a:p>
            <a:r>
              <a:rPr lang="en-US" sz="1800">
                <a:solidFill>
                  <a:srgbClr val="FFFFFF"/>
                </a:solidFill>
                <a:latin typeface="Aptos"/>
                <a:ea typeface="Calibri"/>
                <a:cs typeface="Calibri"/>
              </a:rPr>
              <a:t>DevOps use several different tools in each individual face whether that is for monitoring or coding to complete the mission's objective</a:t>
            </a:r>
          </a:p>
        </p:txBody>
      </p:sp>
      <p:pic>
        <p:nvPicPr>
          <p:cNvPr id="4" name="Picture 3" descr="A diagram of software company logos&#10;&#10;AI-generated content may be incorrect.">
            <a:extLst>
              <a:ext uri="{FF2B5EF4-FFF2-40B4-BE49-F238E27FC236}">
                <a16:creationId xmlns:a16="http://schemas.microsoft.com/office/drawing/2014/main" id="{FF3D4DF8-38FD-25BB-9E6A-60C7654719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62000"/>
                    </a14:imgEffect>
                    <a14:imgEffect>
                      <a14:brightnessContrast bright="4000" contrast="-1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05304" y="1664965"/>
            <a:ext cx="5407002" cy="352806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rgbClr val="4472C4"/>
            </a:solidFill>
          </a:ln>
          <a:effectLst>
            <a:reflection blurRad="76200" stA="50000" endPos="42000" dist="254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659901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8E8F63-4667-2B07-1509-D1F397C69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en-US" sz="3200">
                <a:solidFill>
                  <a:srgbClr val="FFFFFF"/>
                </a:solidFill>
                <a:ea typeface="+mj-lt"/>
                <a:cs typeface="+mj-lt"/>
              </a:rPr>
              <a:t>Core Practices and How They Increase Efficiency and Reliability</a:t>
            </a:r>
            <a:endParaRPr lang="en-US" sz="3200">
              <a:ea typeface="Calibri Light"/>
              <a:cs typeface="Calibri Light"/>
            </a:endParaRPr>
          </a:p>
          <a:p>
            <a:pPr algn="ctr"/>
            <a:br>
              <a:rPr lang="en-US" sz="2200"/>
            </a:br>
            <a:endParaRPr lang="en-US" sz="2200">
              <a:solidFill>
                <a:srgbClr val="FFFFFF"/>
              </a:solidFill>
            </a:endParaRP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4EBF65-D1C5-A2E3-6F01-CA5845F533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700" b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DevOps: Key Principles &amp; Practices</a:t>
            </a:r>
            <a:endParaRPr lang="en-US" sz="1700">
              <a:solidFill>
                <a:schemeClr val="tx1">
                  <a:alpha val="80000"/>
                </a:schemeClr>
              </a:solidFill>
              <a:ea typeface="Calibri" panose="020F0502020204030204"/>
              <a:cs typeface="Calibri" panose="020F0502020204030204"/>
            </a:endParaRPr>
          </a:p>
          <a:p>
            <a:r>
              <a:rPr lang="en-US" sz="17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Unites development and operations for faster, reliable releases</a:t>
            </a:r>
            <a:endParaRPr lang="en-US" sz="17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17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CI/CD: Frequent code integration, automated testing, and rapid deployment</a:t>
            </a:r>
            <a:endParaRPr lang="en-US" sz="17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17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Automated workflows: Builds, tests, quality &amp; security checks, deployment</a:t>
            </a:r>
            <a:endParaRPr lang="en-US" sz="17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17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Infrastructure as Code (IaC): Consistent, repeatable environments</a:t>
            </a:r>
            <a:endParaRPr lang="en-US" sz="17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17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Automated testing enables faster releases and reliable code</a:t>
            </a:r>
            <a:endParaRPr lang="en-US" sz="17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17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Monitoring &amp; logging for quick issue detection and response</a:t>
            </a:r>
            <a:endParaRPr lang="en-US" sz="17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17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Collaboration: Shared responsibility across teams</a:t>
            </a:r>
            <a:endParaRPr lang="en-US" sz="17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17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Smaller, frequent releases reduce risk and speed feedback</a:t>
            </a:r>
            <a:endParaRPr lang="en-US" sz="17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17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Improves efficiency, reliability, and problem-solving</a:t>
            </a:r>
            <a:endParaRPr lang="en-US" sz="1700">
              <a:solidFill>
                <a:schemeClr val="tx1">
                  <a:alpha val="80000"/>
                </a:schemeClr>
              </a:solidFill>
            </a:endParaRPr>
          </a:p>
          <a:p>
            <a:endParaRPr lang="en-US" sz="1700">
              <a:solidFill>
                <a:schemeClr val="tx1">
                  <a:alpha val="80000"/>
                </a:schemeClr>
              </a:solidFill>
              <a:ea typeface="Calibri"/>
              <a:cs typeface="Calibri"/>
            </a:endParaRPr>
          </a:p>
          <a:p>
            <a:endParaRPr lang="en-US" sz="1700">
              <a:solidFill>
                <a:schemeClr val="tx1">
                  <a:alpha val="80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8829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63501-A559-7032-E364-AB94189E7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err="1">
                <a:solidFill>
                  <a:schemeClr val="bg1"/>
                </a:solidFill>
                <a:ea typeface="Calibri Light"/>
                <a:cs typeface="Calibri Light"/>
              </a:rPr>
              <a:t>DevOPs</a:t>
            </a:r>
            <a:r>
              <a:rPr lang="en-US" sz="4000">
                <a:solidFill>
                  <a:schemeClr val="bg1"/>
                </a:solidFill>
                <a:ea typeface="Calibri Light"/>
                <a:cs typeface="Calibri Light"/>
              </a:rPr>
              <a:t> on the Cloud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00075-96A7-AC26-6B18-A785583A9F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9225"/>
            <a:ext cx="10525760" cy="87661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Font typeface="Wingdings"/>
              <a:buChar char="Ø"/>
            </a:pPr>
            <a:r>
              <a:rPr lang="en-US" sz="2000" err="1">
                <a:solidFill>
                  <a:schemeClr val="bg1"/>
                </a:solidFill>
                <a:ea typeface="Calibri"/>
                <a:cs typeface="Calibri"/>
              </a:rPr>
              <a:t>DevOPs</a:t>
            </a:r>
            <a:r>
              <a:rPr lang="en-US" sz="2000">
                <a:solidFill>
                  <a:schemeClr val="bg1"/>
                </a:solidFill>
                <a:ea typeface="Calibri"/>
                <a:cs typeface="Calibri"/>
              </a:rPr>
              <a:t> helps development and IT operations teams work together to build, test, and release applications faster using cloud automation. 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  <a:p>
            <a:pPr marL="0" indent="0">
              <a:buNone/>
            </a:pPr>
            <a:endParaRPr lang="en-US" sz="2000">
              <a:ea typeface="Calibri"/>
              <a:cs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FACA1B-5FE1-CF32-8A6E-4406077C8500}"/>
              </a:ext>
            </a:extLst>
          </p:cNvPr>
          <p:cNvSpPr txBox="1"/>
          <p:nvPr/>
        </p:nvSpPr>
        <p:spPr>
          <a:xfrm>
            <a:off x="924560" y="1422400"/>
            <a:ext cx="10444480" cy="5791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46252EB-01B3-B1B6-AB30-A1B8278059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4046205"/>
              </p:ext>
            </p:extLst>
          </p:nvPr>
        </p:nvGraphicFramePr>
        <p:xfrm>
          <a:off x="924560" y="2712720"/>
          <a:ext cx="10613879" cy="14455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5679">
                  <a:extLst>
                    <a:ext uri="{9D8B030D-6E8A-4147-A177-3AD203B41FA5}">
                      <a16:colId xmlns:a16="http://schemas.microsoft.com/office/drawing/2014/main" val="1021801131"/>
                    </a:ext>
                  </a:extLst>
                </a:gridCol>
                <a:gridCol w="3539100">
                  <a:extLst>
                    <a:ext uri="{9D8B030D-6E8A-4147-A177-3AD203B41FA5}">
                      <a16:colId xmlns:a16="http://schemas.microsoft.com/office/drawing/2014/main" val="255733327"/>
                    </a:ext>
                  </a:extLst>
                </a:gridCol>
                <a:gridCol w="3539100">
                  <a:extLst>
                    <a:ext uri="{9D8B030D-6E8A-4147-A177-3AD203B41FA5}">
                      <a16:colId xmlns:a16="http://schemas.microsoft.com/office/drawing/2014/main" val="4057923635"/>
                    </a:ext>
                  </a:extLst>
                </a:gridCol>
              </a:tblGrid>
              <a:tr h="37066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AWS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Microsoft Azure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Google Cloud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9786317"/>
                  </a:ext>
                </a:extLst>
              </a:tr>
              <a:tr h="1074917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/>
                        <a:t>CodePipeline</a:t>
                      </a:r>
                    </a:p>
                    <a:p>
                      <a:pPr lvl="0" algn="l">
                        <a:buNone/>
                      </a:pPr>
                      <a:r>
                        <a:rPr lang="en-US"/>
                        <a:t>CodeBuild</a:t>
                      </a:r>
                    </a:p>
                    <a:p>
                      <a:pPr lvl="0" algn="l">
                        <a:buNone/>
                      </a:pPr>
                      <a:r>
                        <a:rPr lang="en-US"/>
                        <a:t>CloudWatch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/>
                        <a:t>Azure DevOPs</a:t>
                      </a:r>
                    </a:p>
                    <a:p>
                      <a:pPr lvl="0" algn="l">
                        <a:buNone/>
                      </a:pPr>
                      <a:r>
                        <a:rPr lang="en-US"/>
                        <a:t>Azure Pipeline</a:t>
                      </a:r>
                    </a:p>
                    <a:p>
                      <a:pPr lvl="0" algn="l">
                        <a:buNone/>
                      </a:pPr>
                      <a:r>
                        <a:rPr lang="en-US"/>
                        <a:t>Azure Monitor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/>
                        <a:t>Cloud Build</a:t>
                      </a:r>
                    </a:p>
                    <a:p>
                      <a:pPr lvl="0" algn="l">
                        <a:buNone/>
                      </a:pPr>
                      <a:r>
                        <a:rPr lang="en-US"/>
                        <a:t>Cloud Display</a:t>
                      </a:r>
                    </a:p>
                    <a:p>
                      <a:pPr lvl="0" algn="l">
                        <a:buNone/>
                      </a:pPr>
                      <a:r>
                        <a:rPr lang="en-US"/>
                        <a:t>Cloud Monitoring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5753993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61702C21-2784-BB9E-0F24-0A7930363290}"/>
              </a:ext>
            </a:extLst>
          </p:cNvPr>
          <p:cNvSpPr txBox="1"/>
          <p:nvPr/>
        </p:nvSpPr>
        <p:spPr>
          <a:xfrm>
            <a:off x="863600" y="5171440"/>
            <a:ext cx="1075944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bg1"/>
                </a:solidFill>
                <a:ea typeface="Calibri"/>
                <a:cs typeface="Calibri"/>
              </a:rPr>
              <a:t>Why it matters:</a:t>
            </a:r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 It helps teams deploy updates faster, reduce mistakes, monitor apps, and scale cloud resources when needed.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77170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 descr="Awesome Backgrounds For Powerpoints">
            <a:extLst>
              <a:ext uri="{FF2B5EF4-FFF2-40B4-BE49-F238E27FC236}">
                <a16:creationId xmlns:a16="http://schemas.microsoft.com/office/drawing/2014/main" id="{6B1DE66B-0B6F-71AF-7ADE-5E9DE522FD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57" r="31561" b="897"/>
          <a:stretch>
            <a:fillRect/>
          </a:stretch>
        </p:blipFill>
        <p:spPr>
          <a:xfrm>
            <a:off x="3522468" y="10"/>
            <a:ext cx="8669532" cy="6857990"/>
          </a:xfrm>
          <a:prstGeom prst="rect">
            <a:avLst/>
          </a:prstGeom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8671A0-1B20-4D62-13F8-ED33C2941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>
                <a:solidFill>
                  <a:schemeClr val="bg1"/>
                </a:solidFill>
              </a:rPr>
              <a:t>Challenges of Implementing DevOps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Content Placeholder 43">
            <a:extLst>
              <a:ext uri="{FF2B5EF4-FFF2-40B4-BE49-F238E27FC236}">
                <a16:creationId xmlns:a16="http://schemas.microsoft.com/office/drawing/2014/main" id="{C97CF5A0-8413-33C3-DED3-CCBF902D4D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4454" y="847746"/>
            <a:ext cx="6100826" cy="4806467"/>
          </a:xfrm>
        </p:spPr>
        <p:txBody>
          <a:bodyPr anchor="t">
            <a:normAutofit/>
          </a:bodyPr>
          <a:lstStyle/>
          <a:p>
            <a:pPr marL="285750" indent="-285750"/>
            <a:r>
              <a:rPr lang="en-US" sz="1700">
                <a:solidFill>
                  <a:schemeClr val="bg1"/>
                </a:solidFill>
              </a:rPr>
              <a:t>Successful DevOps adoption requires knowledge of:</a:t>
            </a:r>
            <a:endParaRPr lang="en-US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 Automation, Cloud platforms, CI/CD pipelines which many organizations struggle to find or train engineers with this pallet of </a:t>
            </a:r>
            <a:r>
              <a:rPr lang="en-US" sz="1700">
                <a:solidFill>
                  <a:schemeClr val="bg1"/>
                </a:solidFill>
                <a:ea typeface="+mn-lt"/>
                <a:cs typeface="+mn-lt"/>
              </a:rPr>
              <a:t>skills and knowledge</a:t>
            </a:r>
            <a:endParaRPr lang="en-US" sz="1700" dirty="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pPr marL="285750" indent="-285750"/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DevOps often involves many tools </a:t>
            </a:r>
            <a:r>
              <a:rPr lang="en-US" sz="1700">
                <a:solidFill>
                  <a:schemeClr val="bg1"/>
                </a:solidFill>
                <a:ea typeface="+mn-lt"/>
                <a:cs typeface="+mn-lt"/>
              </a:rPr>
              <a:t>such as: 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 Source control, Build systems, Testing frameworks, Deployment tools and Monitoring platforms </a:t>
            </a:r>
            <a:endParaRPr lang="en-US" dirty="0">
              <a:solidFill>
                <a:schemeClr val="bg1"/>
              </a:solidFill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700">
                <a:solidFill>
                  <a:schemeClr val="bg1"/>
                </a:solidFill>
                <a:ea typeface="+mn-lt"/>
                <a:cs typeface="+mn-lt"/>
              </a:rPr>
              <a:t>Integrating these tools smoothly can be difficult especially with </a:t>
            </a:r>
            <a:r>
              <a:rPr lang="en-US" sz="1700" dirty="0">
                <a:solidFill>
                  <a:schemeClr val="bg1"/>
                </a:solidFill>
                <a:ea typeface="+mn-lt"/>
                <a:cs typeface="+mn-lt"/>
              </a:rPr>
              <a:t>legacy systems.</a:t>
            </a:r>
            <a:endParaRPr lang="en-US" dirty="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r>
              <a:rPr lang="en-US" sz="1700">
                <a:solidFill>
                  <a:schemeClr val="bg1"/>
                </a:solidFill>
                <a:ea typeface="+mn-lt"/>
                <a:cs typeface="+mn-lt"/>
              </a:rPr>
              <a:t>Continuous deployment requires strong monitoring systems to detect issues quickly</a:t>
            </a:r>
          </a:p>
          <a:p>
            <a:r>
              <a:rPr lang="en-US" sz="1700" dirty="0">
                <a:solidFill>
                  <a:schemeClr val="bg1"/>
                </a:solidFill>
                <a:ea typeface="Calibri"/>
                <a:cs typeface="Calibri"/>
              </a:rPr>
              <a:t>The cost of process redesigning, training employees, cloud migration and to acquire the new tools as transferring legacy to Modern DevOps workflows can be costly!</a:t>
            </a:r>
          </a:p>
        </p:txBody>
      </p:sp>
    </p:spTree>
    <p:extLst>
      <p:ext uri="{BB962C8B-B14F-4D97-AF65-F5344CB8AC3E}">
        <p14:creationId xmlns:p14="http://schemas.microsoft.com/office/powerpoint/2010/main" val="854688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Yellow question mark">
            <a:extLst>
              <a:ext uri="{FF2B5EF4-FFF2-40B4-BE49-F238E27FC236}">
                <a16:creationId xmlns:a16="http://schemas.microsoft.com/office/drawing/2014/main" id="{D3B1D7D3-A385-618F-841E-59B2F859DC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2" b="626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2E4E34-2A20-77A8-EB66-33C5BE288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>
                <a:solidFill>
                  <a:schemeClr val="tx1">
                    <a:lumMod val="85000"/>
                    <a:lumOff val="15000"/>
                  </a:schemeClr>
                </a:solidFill>
              </a:rPr>
              <a:t>Questions?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84375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AA55E6-AA46-8867-A387-897885DD4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662" y="4267832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 You </a:t>
            </a:r>
          </a:p>
        </p:txBody>
      </p: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F0DED730-3A5B-4E5A-84DB-0B1DBEAC6C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247022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377</Words>
  <Application>Microsoft Office PowerPoint</Application>
  <PresentationFormat>Widescreen</PresentationFormat>
  <Paragraphs>43</Paragraphs>
  <Slides>7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Arial</vt:lpstr>
      <vt:lpstr>Calibri</vt:lpstr>
      <vt:lpstr>Calibri Light</vt:lpstr>
      <vt:lpstr>Wingdings</vt:lpstr>
      <vt:lpstr>Office Theme</vt:lpstr>
      <vt:lpstr>PowerPoint Presentation</vt:lpstr>
      <vt:lpstr>What is DevOps</vt:lpstr>
      <vt:lpstr>Core Practices and How They Increase Efficiency and Reliability  </vt:lpstr>
      <vt:lpstr>DevOPs on the Cloud</vt:lpstr>
      <vt:lpstr>Challenges of Implementing DevOps</vt:lpstr>
      <vt:lpstr>Questions?</vt:lpstr>
      <vt:lpstr>Thank You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Thomas Mulloy</dc:creator>
  <cp:lastModifiedBy>Faith Jones</cp:lastModifiedBy>
  <cp:revision>61</cp:revision>
  <dcterms:created xsi:type="dcterms:W3CDTF">2016-06-29T17:12:42Z</dcterms:created>
  <dcterms:modified xsi:type="dcterms:W3CDTF">2026-05-14T14:46:24Z</dcterms:modified>
</cp:coreProperties>
</file>
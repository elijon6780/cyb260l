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B489E8-743E-5696-E94B-ECAA2E7FEF9E}" v="18" dt="2026-05-13T02:07:28.609"/>
    <p1510:client id="{7F982A0B-7F47-6272-B5C5-3B80E9D00457}" v="1" dt="2026-05-13T12:03:27.333"/>
    <p1510:client id="{AD77B184-493A-6005-E34D-F9825A9BF793}" v="1" dt="2026-05-11T15:58:56.925"/>
    <p1510:client id="{C0D8AA62-C72D-1683-44D0-D955D5E64079}" v="39" dt="2026-05-11T15:57:28.242"/>
    <p1510:client id="{F629BEF5-FED9-7A20-4259-2992486E98AC}" v="12" dt="2026-05-11T15:59:40.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2311F2-8118-4B9B-8D1C-67E22F1ACE91}" type="datetimeFigureOut">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0CF95A-8ACC-49EF-AE9C-B04DC0D057ED}" type="slidenum">
              <a:t>‹#›</a:t>
            </a:fld>
            <a:endParaRPr lang="en-US"/>
          </a:p>
        </p:txBody>
      </p:sp>
    </p:spTree>
    <p:extLst>
      <p:ext uri="{BB962C8B-B14F-4D97-AF65-F5344CB8AC3E}">
        <p14:creationId xmlns:p14="http://schemas.microsoft.com/office/powerpoint/2010/main" val="2633953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saying our group was assigned Oracle VirtualBox. Mention that we will explain what it is, what type of hypervisor it is, the pros and cons, and the main features.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VirtualBox in simple words: it lets you run a computer inside your computer. This is useful because we can practice without changing the main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VirtualBox is a Type 2 hypervisor because it runs on top of the host operating system. That makes it easier to install, but it may not be as fast as Type 1 hypervisors.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why students would use it: it is free, beginner friendly, and snapshots are helpful when something goes wrong during a lab.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limits: since it shares resources with the host computer, it can slow down. It is better for learning and testing than big enterprise servers.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features that matter in a lab: snapshots, shared folders, shared clipboard, virtual networking, and Guest Additions.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VirtualBox fits school labs, cyber practice, and software testing. For a real data center, a Type 1 hypervisor would usually be a better choice.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main answer: VirtualBox is a Type 2 hypervisor. It is a practical choice for students because it is easy to use and good for safe practice.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601110F-1B76-8242-AE2F-5F83B5239CF8}"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1774876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1110F-1B76-8242-AE2F-5F83B5239CF8}"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1201246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01110F-1B76-8242-AE2F-5F83B5239CF8}"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861387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601110F-1B76-8242-AE2F-5F83B5239CF8}"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1144548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601110F-1B76-8242-AE2F-5F83B5239CF8}"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1420369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01110F-1B76-8242-AE2F-5F83B5239CF8}"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725361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1110F-1B76-8242-AE2F-5F83B5239CF8}"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2032911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01110F-1B76-8242-AE2F-5F83B5239CF8}"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678118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01110F-1B76-8242-AE2F-5F83B5239CF8}"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434587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1110F-1B76-8242-AE2F-5F83B5239CF8}"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512144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01110F-1B76-8242-AE2F-5F83B5239CF8}"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FBC786-02F2-434A-8334-C10171D857E9}" type="slidenum">
              <a:rPr lang="en-US" smtClean="0"/>
              <a:t>‹#›</a:t>
            </a:fld>
            <a:endParaRPr lang="en-US"/>
          </a:p>
        </p:txBody>
      </p:sp>
    </p:spTree>
    <p:extLst>
      <p:ext uri="{BB962C8B-B14F-4D97-AF65-F5344CB8AC3E}">
        <p14:creationId xmlns:p14="http://schemas.microsoft.com/office/powerpoint/2010/main" val="504641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634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1110F-1B76-8242-AE2F-5F83B5239CF8}" type="datetimeFigureOut">
              <a:rPr lang="en-US" smtClean="0"/>
              <a:t>5/13/2026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BC786-02F2-434A-8334-C10171D857E9}" type="slidenum">
              <a:rPr lang="en-US" smtClean="0"/>
              <a:t>‹#›</a:t>
            </a:fld>
            <a:endParaRPr lang="en-US"/>
          </a:p>
        </p:txBody>
      </p:sp>
    </p:spTree>
    <p:extLst>
      <p:ext uri="{BB962C8B-B14F-4D97-AF65-F5344CB8AC3E}">
        <p14:creationId xmlns:p14="http://schemas.microsoft.com/office/powerpoint/2010/main" val="744895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A"/>
        </a:solidFill>
        <a:effectLst/>
      </p:bgPr>
    </p:bg>
    <p:spTree>
      <p:nvGrpSpPr>
        <p:cNvPr id="1" name=""/>
        <p:cNvGrpSpPr/>
        <p:nvPr/>
      </p:nvGrpSpPr>
      <p:grpSpPr>
        <a:xfrm>
          <a:off x="0" y="0"/>
          <a:ext cx="0" cy="0"/>
          <a:chOff x="0" y="0"/>
          <a:chExt cx="0" cy="0"/>
        </a:xfrm>
      </p:grpSpPr>
      <p:sp>
        <p:nvSpPr>
          <p:cNvPr id="2" name="Shape 0"/>
          <p:cNvSpPr/>
          <p:nvPr/>
        </p:nvSpPr>
        <p:spPr>
          <a:xfrm>
            <a:off x="8321040" y="137160"/>
            <a:ext cx="3474720" cy="3474720"/>
          </a:xfrm>
          <a:prstGeom prst="arc">
            <a:avLst/>
          </a:prstGeom>
          <a:noFill/>
          <a:ln w="25400">
            <a:solidFill>
              <a:srgbClr val="497293">
                <a:alpha val="35000"/>
              </a:srgbClr>
            </a:solidFill>
            <a:prstDash val="solid"/>
          </a:ln>
        </p:spPr>
        <p:txBody>
          <a:bodyPr/>
          <a:lstStyle/>
          <a:p>
            <a:endParaRPr/>
          </a:p>
        </p:txBody>
      </p:sp>
      <p:sp>
        <p:nvSpPr>
          <p:cNvPr id="3" name="Shape 1"/>
          <p:cNvSpPr/>
          <p:nvPr/>
        </p:nvSpPr>
        <p:spPr>
          <a:xfrm>
            <a:off x="8915400" y="594360"/>
            <a:ext cx="2651760" cy="2651760"/>
          </a:xfrm>
          <a:prstGeom prst="arc">
            <a:avLst/>
          </a:prstGeom>
          <a:noFill/>
          <a:ln w="25400">
            <a:solidFill>
              <a:srgbClr val="78A6C8">
                <a:alpha val="25000"/>
              </a:srgbClr>
            </a:solidFill>
            <a:prstDash val="solid"/>
          </a:ln>
        </p:spPr>
        <p:txBody>
          <a:bodyPr/>
          <a:lstStyle/>
          <a:p>
            <a:endParaRPr/>
          </a:p>
        </p:txBody>
      </p:sp>
      <p:sp>
        <p:nvSpPr>
          <p:cNvPr id="4" name="Text 2"/>
          <p:cNvSpPr/>
          <p:nvPr/>
        </p:nvSpPr>
        <p:spPr>
          <a:xfrm>
            <a:off x="731520" y="1234440"/>
            <a:ext cx="7498080" cy="640080"/>
          </a:xfrm>
          <a:prstGeom prst="rect">
            <a:avLst/>
          </a:prstGeom>
          <a:noFill/>
          <a:ln/>
        </p:spPr>
        <p:txBody>
          <a:bodyPr wrap="square" lIns="0" tIns="0" rIns="0" bIns="0" rtlCol="0" anchor="ct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Oracle VirtualBox</a:t>
            </a:r>
            <a:endParaRPr lang="en-US" sz="3800" dirty="0"/>
          </a:p>
        </p:txBody>
      </p:sp>
      <p:sp>
        <p:nvSpPr>
          <p:cNvPr id="5" name="Text 3"/>
          <p:cNvSpPr/>
          <p:nvPr/>
        </p:nvSpPr>
        <p:spPr>
          <a:xfrm>
            <a:off x="768096" y="1965960"/>
            <a:ext cx="7040880" cy="438912"/>
          </a:xfrm>
          <a:prstGeom prst="rect">
            <a:avLst/>
          </a:prstGeom>
          <a:noFill/>
          <a:ln/>
        </p:spPr>
        <p:txBody>
          <a:bodyPr wrap="square" lIns="0" tIns="0" rIns="0" bIns="0" rtlCol="0" anchor="ctr"/>
          <a:lstStyle/>
          <a:p>
            <a:pPr marL="0" indent="0">
              <a:buNone/>
            </a:pPr>
            <a:r>
              <a:rPr lang="en-US" sz="2200" dirty="0">
                <a:solidFill>
                  <a:srgbClr val="DDEDF8"/>
                </a:solidFill>
              </a:rPr>
              <a:t>Hypervisor Comparison Presentation</a:t>
            </a:r>
            <a:endParaRPr lang="en-US" sz="2200" dirty="0"/>
          </a:p>
        </p:txBody>
      </p:sp>
      <p:sp>
        <p:nvSpPr>
          <p:cNvPr id="6" name="Text 4"/>
          <p:cNvSpPr/>
          <p:nvPr/>
        </p:nvSpPr>
        <p:spPr>
          <a:xfrm>
            <a:off x="768096" y="2542032"/>
            <a:ext cx="5303520" cy="292608"/>
          </a:xfrm>
          <a:prstGeom prst="rect">
            <a:avLst/>
          </a:prstGeom>
          <a:noFill/>
          <a:ln/>
        </p:spPr>
        <p:txBody>
          <a:bodyPr wrap="square" lIns="0" tIns="0" rIns="0" bIns="0" rtlCol="0" anchor="ctr"/>
          <a:lstStyle/>
          <a:p>
            <a:pPr marL="0" indent="0">
              <a:buNone/>
            </a:pPr>
            <a:r>
              <a:rPr lang="en-US" sz="1500" dirty="0">
                <a:solidFill>
                  <a:srgbClr val="B8CADB"/>
                </a:solidFill>
              </a:rPr>
              <a:t>1.3 In-Class Activity • Hypervisors</a:t>
            </a:r>
            <a:endParaRPr lang="en-US" sz="1500" dirty="0"/>
          </a:p>
        </p:txBody>
      </p:sp>
      <p:sp>
        <p:nvSpPr>
          <p:cNvPr id="7" name="Shape 5"/>
          <p:cNvSpPr/>
          <p:nvPr/>
        </p:nvSpPr>
        <p:spPr>
          <a:xfrm>
            <a:off x="768096" y="3063240"/>
            <a:ext cx="4023360" cy="0"/>
          </a:xfrm>
          <a:prstGeom prst="line">
            <a:avLst/>
          </a:prstGeom>
          <a:noFill/>
          <a:ln w="50800">
            <a:solidFill>
              <a:srgbClr val="F4A259"/>
            </a:solidFill>
            <a:prstDash val="solid"/>
          </a:ln>
        </p:spPr>
        <p:txBody>
          <a:bodyPr/>
          <a:lstStyle/>
          <a:p>
            <a:endParaRPr/>
          </a:p>
        </p:txBody>
      </p:sp>
      <p:sp>
        <p:nvSpPr>
          <p:cNvPr id="8" name="Shape 6"/>
          <p:cNvSpPr/>
          <p:nvPr/>
        </p:nvSpPr>
        <p:spPr>
          <a:xfrm>
            <a:off x="7726680" y="4462272"/>
            <a:ext cx="3520440" cy="1051560"/>
          </a:xfrm>
          <a:prstGeom prst="roundRect">
            <a:avLst>
              <a:gd name="adj" fmla="val 10435"/>
            </a:avLst>
          </a:prstGeom>
          <a:solidFill>
            <a:srgbClr val="FFFFFF">
              <a:alpha val="93000"/>
            </a:srgbClr>
          </a:solidFill>
          <a:ln w="12700">
            <a:solidFill>
              <a:srgbClr val="FFFFFF">
                <a:alpha val="15000"/>
              </a:srgbClr>
            </a:solidFill>
            <a:prstDash val="solid"/>
          </a:ln>
        </p:spPr>
        <p:txBody>
          <a:bodyPr/>
          <a:lstStyle/>
          <a:p>
            <a:endParaRPr/>
          </a:p>
        </p:txBody>
      </p:sp>
      <p:sp>
        <p:nvSpPr>
          <p:cNvPr id="9" name="Text 7"/>
          <p:cNvSpPr/>
          <p:nvPr/>
        </p:nvSpPr>
        <p:spPr>
          <a:xfrm>
            <a:off x="7973568" y="4709160"/>
            <a:ext cx="3063240" cy="292608"/>
          </a:xfrm>
          <a:prstGeom prst="rect">
            <a:avLst/>
          </a:prstGeom>
          <a:noFill/>
          <a:ln/>
        </p:spPr>
        <p:txBody>
          <a:bodyPr wrap="square" lIns="0" tIns="0" rIns="0" bIns="0" rtlCol="0" anchor="ctr"/>
          <a:lstStyle/>
          <a:p>
            <a:r>
              <a:t>Group Topic: Oracle VirtualBox</a:t>
            </a:r>
          </a:p>
        </p:txBody>
      </p:sp>
      <p:sp>
        <p:nvSpPr>
          <p:cNvPr id="10" name="TextBox 9"/>
          <p:cNvSpPr txBox="1"/>
          <p:nvPr/>
        </p:nvSpPr>
        <p:spPr>
          <a:xfrm>
            <a:off x="624322" y="3058064"/>
            <a:ext cx="7680960" cy="502920"/>
          </a:xfrm>
          <a:prstGeom prst="rect">
            <a:avLst/>
          </a:prstGeom>
          <a:noFill/>
        </p:spPr>
        <p:txBody>
          <a:bodyPr wrap="none">
            <a:spAutoFit/>
          </a:bodyPr>
          <a:lstStyle/>
          <a:p>
            <a:pPr algn="l"/>
            <a:r>
              <a:rPr sz="1800" b="0">
                <a:solidFill>
                  <a:srgbClr val="FFFFFF"/>
                </a:solidFill>
              </a:rPr>
              <a:t>Presented by: Jaden Lee, Faith Jones, Yesenia Caro, and Dante Vega</a:t>
            </a:r>
          </a:p>
        </p:txBody>
      </p:sp>
    </p:spTree>
    <p:extLst>
      <p:ext uri="{BB962C8B-B14F-4D97-AF65-F5344CB8AC3E}">
        <p14:creationId xmlns:p14="http://schemas.microsoft.com/office/powerpoint/2010/main" val="3614899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1F3B5A"/>
          </a:solidFill>
          <a:ln w="12700">
            <a:solidFill>
              <a:srgbClr val="1F3B5A"/>
            </a:solidFill>
            <a:prstDash val="solid"/>
          </a:ln>
        </p:spPr>
        <p:txBody>
          <a:bodyPr/>
          <a:lstStyle/>
          <a:p>
            <a:endParaRPr/>
          </a:p>
        </p:txBody>
      </p:sp>
      <p:sp>
        <p:nvSpPr>
          <p:cNvPr id="3" name="Text 1"/>
          <p:cNvSpPr/>
          <p:nvPr/>
        </p:nvSpPr>
        <p:spPr>
          <a:xfrm>
            <a:off x="502920" y="164592"/>
            <a:ext cx="8138160" cy="402336"/>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What is Oracle VirtualBox?</a:t>
            </a:r>
            <a:endParaRPr lang="en-US" sz="2200" dirty="0"/>
          </a:p>
        </p:txBody>
      </p:sp>
      <p:sp>
        <p:nvSpPr>
          <p:cNvPr id="4" name="Text 2"/>
          <p:cNvSpPr/>
          <p:nvPr/>
        </p:nvSpPr>
        <p:spPr>
          <a:xfrm>
            <a:off x="8732520" y="228600"/>
            <a:ext cx="2834640" cy="274320"/>
          </a:xfrm>
          <a:prstGeom prst="rect">
            <a:avLst/>
          </a:prstGeom>
          <a:noFill/>
          <a:ln/>
        </p:spPr>
        <p:txBody>
          <a:bodyPr wrap="square" lIns="0" tIns="0" rIns="0" bIns="0" rtlCol="0" anchor="ctr"/>
          <a:lstStyle/>
          <a:p>
            <a:pPr marL="0" indent="0" algn="r">
              <a:buNone/>
            </a:pPr>
            <a:r>
              <a:rPr lang="en-US" sz="1050" dirty="0">
                <a:solidFill>
                  <a:srgbClr val="D6E2EF"/>
                </a:solidFill>
              </a:rPr>
              <a:t>Overview</a:t>
            </a:r>
            <a:endParaRPr lang="en-US" sz="1050" dirty="0"/>
          </a:p>
        </p:txBody>
      </p:sp>
      <p:sp>
        <p:nvSpPr>
          <p:cNvPr id="5" name="Shape 3"/>
          <p:cNvSpPr/>
          <p:nvPr/>
        </p:nvSpPr>
        <p:spPr>
          <a:xfrm>
            <a:off x="502920" y="6355080"/>
            <a:ext cx="11155680" cy="0"/>
          </a:xfrm>
          <a:prstGeom prst="line">
            <a:avLst/>
          </a:prstGeom>
          <a:noFill/>
          <a:ln w="8890">
            <a:solidFill>
              <a:srgbClr val="CED8E2"/>
            </a:solidFill>
            <a:prstDash val="solid"/>
          </a:ln>
        </p:spPr>
        <p:txBody>
          <a:bodyPr/>
          <a:lstStyle/>
          <a:p>
            <a:endParaRPr/>
          </a:p>
        </p:txBody>
      </p:sp>
      <p:sp>
        <p:nvSpPr>
          <p:cNvPr id="6" name="Text 4"/>
          <p:cNvSpPr/>
          <p:nvPr/>
        </p:nvSpPr>
        <p:spPr>
          <a:xfrm>
            <a:off x="502920" y="6419088"/>
            <a:ext cx="5943600" cy="219456"/>
          </a:xfrm>
          <a:prstGeom prst="rect">
            <a:avLst/>
          </a:prstGeom>
          <a:noFill/>
          <a:ln/>
        </p:spPr>
        <p:txBody>
          <a:bodyPr wrap="square" lIns="0" tIns="0" rIns="0" bIns="0" rtlCol="0" anchor="ctr"/>
          <a:lstStyle/>
          <a:p>
            <a:pPr marL="0" indent="0">
              <a:buNone/>
            </a:pPr>
            <a:r>
              <a:rPr lang="en-US" sz="850" dirty="0">
                <a:solidFill>
                  <a:srgbClr val="526476"/>
                </a:solidFill>
              </a:rPr>
              <a:t>CYB120L 1.3 In-Class Activity • Hypervisors</a:t>
            </a:r>
            <a:endParaRPr lang="en-US" sz="850" dirty="0"/>
          </a:p>
        </p:txBody>
      </p:sp>
      <p:sp>
        <p:nvSpPr>
          <p:cNvPr id="7" name="Text 5"/>
          <p:cNvSpPr/>
          <p:nvPr/>
        </p:nvSpPr>
        <p:spPr>
          <a:xfrm>
            <a:off x="731520" y="1143000"/>
            <a:ext cx="10789920" cy="640080"/>
          </a:xfrm>
          <a:prstGeom prst="rect">
            <a:avLst/>
          </a:prstGeom>
          <a:noFill/>
          <a:ln/>
        </p:spPr>
        <p:txBody>
          <a:bodyPr wrap="square" lIns="0" tIns="0" rIns="0" bIns="0" rtlCol="0" anchor="ctr">
            <a:normAutofit/>
          </a:bodyPr>
          <a:lstStyle/>
          <a:p>
            <a:r>
              <a:t>Oracle VirtualBox lets one computer run another operating system inside a virtual machine.</a:t>
            </a:r>
          </a:p>
        </p:txBody>
      </p:sp>
      <p:sp>
        <p:nvSpPr>
          <p:cNvPr id="8" name="Shape 6"/>
          <p:cNvSpPr/>
          <p:nvPr/>
        </p:nvSpPr>
        <p:spPr>
          <a:xfrm>
            <a:off x="777240" y="2148840"/>
            <a:ext cx="3429000" cy="1965960"/>
          </a:xfrm>
          <a:prstGeom prst="roundRect">
            <a:avLst>
              <a:gd name="adj" fmla="val 5581"/>
            </a:avLst>
          </a:prstGeom>
          <a:solidFill>
            <a:srgbClr val="F7F9FB"/>
          </a:solidFill>
          <a:ln w="12700">
            <a:solidFill>
              <a:srgbClr val="D8E1EA"/>
            </a:solidFill>
            <a:prstDash val="solid"/>
          </a:ln>
        </p:spPr>
        <p:txBody>
          <a:bodyPr/>
          <a:lstStyle/>
          <a:p>
            <a:endParaRPr/>
          </a:p>
        </p:txBody>
      </p:sp>
      <p:sp>
        <p:nvSpPr>
          <p:cNvPr id="9" name="Shape 7"/>
          <p:cNvSpPr/>
          <p:nvPr/>
        </p:nvSpPr>
        <p:spPr>
          <a:xfrm>
            <a:off x="777240" y="2148840"/>
            <a:ext cx="73152" cy="1965960"/>
          </a:xfrm>
          <a:prstGeom prst="rect">
            <a:avLst/>
          </a:prstGeom>
          <a:solidFill>
            <a:srgbClr val="2E6F9E"/>
          </a:solidFill>
          <a:ln w="12700">
            <a:solidFill>
              <a:srgbClr val="2E6F9E"/>
            </a:solidFill>
            <a:prstDash val="solid"/>
          </a:ln>
        </p:spPr>
        <p:txBody>
          <a:bodyPr/>
          <a:lstStyle/>
          <a:p>
            <a:endParaRPr/>
          </a:p>
        </p:txBody>
      </p:sp>
      <p:sp>
        <p:nvSpPr>
          <p:cNvPr id="10" name="Text 8"/>
          <p:cNvSpPr/>
          <p:nvPr/>
        </p:nvSpPr>
        <p:spPr>
          <a:xfrm>
            <a:off x="1014984" y="2313432"/>
            <a:ext cx="3008376" cy="320040"/>
          </a:xfrm>
          <a:prstGeom prst="rect">
            <a:avLst/>
          </a:prstGeom>
          <a:noFill/>
          <a:ln/>
        </p:spPr>
        <p:txBody>
          <a:bodyPr wrap="square" lIns="0" tIns="0" rIns="0" bIns="0" rtlCol="0" anchor="ctr"/>
          <a:lstStyle/>
          <a:p>
            <a:pPr marL="0" indent="0">
              <a:buNone/>
            </a:pPr>
            <a:r>
              <a:rPr lang="en-US" sz="1800" b="1" dirty="0">
                <a:solidFill>
                  <a:srgbClr val="18304A"/>
                </a:solidFill>
              </a:rPr>
              <a:t>Main idea</a:t>
            </a:r>
            <a:endParaRPr lang="en-US" sz="1800" dirty="0"/>
          </a:p>
        </p:txBody>
      </p:sp>
      <p:sp>
        <p:nvSpPr>
          <p:cNvPr id="11" name="Text 9"/>
          <p:cNvSpPr/>
          <p:nvPr/>
        </p:nvSpPr>
        <p:spPr>
          <a:xfrm>
            <a:off x="1014984" y="2807208"/>
            <a:ext cx="3008376" cy="1143000"/>
          </a:xfrm>
          <a:prstGeom prst="rect">
            <a:avLst/>
          </a:prstGeom>
          <a:noFill/>
          <a:ln/>
        </p:spPr>
        <p:txBody>
          <a:bodyPr wrap="square" lIns="0" tIns="0" rIns="0" bIns="0" rtlCol="0" anchor="ctr">
            <a:normAutofit/>
          </a:bodyPr>
          <a:lstStyle/>
          <a:p>
            <a:r>
              <a:t>It is like running a “computer inside your computer.”</a:t>
            </a:r>
          </a:p>
        </p:txBody>
      </p:sp>
      <p:sp>
        <p:nvSpPr>
          <p:cNvPr id="12" name="Shape 10"/>
          <p:cNvSpPr/>
          <p:nvPr/>
        </p:nvSpPr>
        <p:spPr>
          <a:xfrm>
            <a:off x="4434840" y="2148840"/>
            <a:ext cx="3429000" cy="1965960"/>
          </a:xfrm>
          <a:prstGeom prst="roundRect">
            <a:avLst>
              <a:gd name="adj" fmla="val 5581"/>
            </a:avLst>
          </a:prstGeom>
          <a:solidFill>
            <a:srgbClr val="F7F9FB"/>
          </a:solidFill>
          <a:ln w="12700">
            <a:solidFill>
              <a:srgbClr val="D8E1EA"/>
            </a:solidFill>
            <a:prstDash val="solid"/>
          </a:ln>
        </p:spPr>
        <p:txBody>
          <a:bodyPr/>
          <a:lstStyle/>
          <a:p>
            <a:endParaRPr/>
          </a:p>
        </p:txBody>
      </p:sp>
      <p:sp>
        <p:nvSpPr>
          <p:cNvPr id="13" name="Shape 11"/>
          <p:cNvSpPr/>
          <p:nvPr/>
        </p:nvSpPr>
        <p:spPr>
          <a:xfrm>
            <a:off x="4434840" y="2148840"/>
            <a:ext cx="73152" cy="1965960"/>
          </a:xfrm>
          <a:prstGeom prst="rect">
            <a:avLst/>
          </a:prstGeom>
          <a:solidFill>
            <a:srgbClr val="5AA469"/>
          </a:solidFill>
          <a:ln w="12700">
            <a:solidFill>
              <a:srgbClr val="5AA469"/>
            </a:solidFill>
            <a:prstDash val="solid"/>
          </a:ln>
        </p:spPr>
        <p:txBody>
          <a:bodyPr/>
          <a:lstStyle/>
          <a:p>
            <a:endParaRPr/>
          </a:p>
        </p:txBody>
      </p:sp>
      <p:sp>
        <p:nvSpPr>
          <p:cNvPr id="14" name="Text 12"/>
          <p:cNvSpPr/>
          <p:nvPr/>
        </p:nvSpPr>
        <p:spPr>
          <a:xfrm>
            <a:off x="4672584" y="2313432"/>
            <a:ext cx="3008376" cy="320040"/>
          </a:xfrm>
          <a:prstGeom prst="rect">
            <a:avLst/>
          </a:prstGeom>
          <a:noFill/>
          <a:ln/>
        </p:spPr>
        <p:txBody>
          <a:bodyPr wrap="square" lIns="0" tIns="0" rIns="0" bIns="0" rtlCol="0" anchor="ctr"/>
          <a:lstStyle/>
          <a:p>
            <a:pPr marL="0" indent="0">
              <a:buNone/>
            </a:pPr>
            <a:r>
              <a:rPr lang="en-US" sz="1800" b="1" dirty="0">
                <a:solidFill>
                  <a:srgbClr val="18304A"/>
                </a:solidFill>
              </a:rPr>
              <a:t>Common users</a:t>
            </a:r>
            <a:endParaRPr lang="en-US" sz="1800" dirty="0"/>
          </a:p>
        </p:txBody>
      </p:sp>
      <p:sp>
        <p:nvSpPr>
          <p:cNvPr id="15" name="Text 13"/>
          <p:cNvSpPr/>
          <p:nvPr/>
        </p:nvSpPr>
        <p:spPr>
          <a:xfrm>
            <a:off x="4672584" y="2807208"/>
            <a:ext cx="3008376" cy="1143000"/>
          </a:xfrm>
          <a:prstGeom prst="rect">
            <a:avLst/>
          </a:prstGeom>
          <a:noFill/>
          <a:ln/>
        </p:spPr>
        <p:txBody>
          <a:bodyPr wrap="square" lIns="0" tIns="0" rIns="0" bIns="0" rtlCol="0" anchor="ctr">
            <a:normAutofit/>
          </a:bodyPr>
          <a:lstStyle/>
          <a:p>
            <a:r>
              <a:t>Students, IT labs, and developers use it to practice and test safely.</a:t>
            </a:r>
          </a:p>
        </p:txBody>
      </p:sp>
      <p:sp>
        <p:nvSpPr>
          <p:cNvPr id="16" name="Shape 14"/>
          <p:cNvSpPr/>
          <p:nvPr/>
        </p:nvSpPr>
        <p:spPr>
          <a:xfrm>
            <a:off x="8092440" y="2148840"/>
            <a:ext cx="3429000" cy="1965960"/>
          </a:xfrm>
          <a:prstGeom prst="roundRect">
            <a:avLst>
              <a:gd name="adj" fmla="val 5581"/>
            </a:avLst>
          </a:prstGeom>
          <a:solidFill>
            <a:srgbClr val="F7F9FB"/>
          </a:solidFill>
          <a:ln w="12700">
            <a:solidFill>
              <a:srgbClr val="D8E1EA"/>
            </a:solidFill>
            <a:prstDash val="solid"/>
          </a:ln>
        </p:spPr>
        <p:txBody>
          <a:bodyPr/>
          <a:lstStyle/>
          <a:p>
            <a:endParaRPr/>
          </a:p>
        </p:txBody>
      </p:sp>
      <p:sp>
        <p:nvSpPr>
          <p:cNvPr id="17" name="Shape 15"/>
          <p:cNvSpPr/>
          <p:nvPr/>
        </p:nvSpPr>
        <p:spPr>
          <a:xfrm>
            <a:off x="8092440" y="2148840"/>
            <a:ext cx="73152" cy="1965960"/>
          </a:xfrm>
          <a:prstGeom prst="rect">
            <a:avLst/>
          </a:prstGeom>
          <a:solidFill>
            <a:srgbClr val="F4A259"/>
          </a:solidFill>
          <a:ln w="12700">
            <a:solidFill>
              <a:srgbClr val="F4A259"/>
            </a:solidFill>
            <a:prstDash val="solid"/>
          </a:ln>
        </p:spPr>
        <p:txBody>
          <a:bodyPr/>
          <a:lstStyle/>
          <a:p>
            <a:endParaRPr/>
          </a:p>
        </p:txBody>
      </p:sp>
      <p:sp>
        <p:nvSpPr>
          <p:cNvPr id="18" name="Text 16"/>
          <p:cNvSpPr/>
          <p:nvPr/>
        </p:nvSpPr>
        <p:spPr>
          <a:xfrm>
            <a:off x="8330184" y="2313432"/>
            <a:ext cx="3008376" cy="320040"/>
          </a:xfrm>
          <a:prstGeom prst="rect">
            <a:avLst/>
          </a:prstGeom>
          <a:noFill/>
          <a:ln/>
        </p:spPr>
        <p:txBody>
          <a:bodyPr wrap="square" lIns="0" tIns="0" rIns="0" bIns="0" rtlCol="0" anchor="ctr"/>
          <a:lstStyle/>
          <a:p>
            <a:pPr marL="0" indent="0">
              <a:buNone/>
            </a:pPr>
            <a:r>
              <a:rPr lang="en-US" sz="1800" b="1" dirty="0">
                <a:solidFill>
                  <a:srgbClr val="18304A"/>
                </a:solidFill>
              </a:rPr>
              <a:t>Where it runs</a:t>
            </a:r>
            <a:endParaRPr lang="en-US" sz="1800" dirty="0"/>
          </a:p>
        </p:txBody>
      </p:sp>
      <p:sp>
        <p:nvSpPr>
          <p:cNvPr id="19" name="Text 17"/>
          <p:cNvSpPr/>
          <p:nvPr/>
        </p:nvSpPr>
        <p:spPr>
          <a:xfrm>
            <a:off x="8330184" y="2807208"/>
            <a:ext cx="3008376" cy="1143000"/>
          </a:xfrm>
          <a:prstGeom prst="rect">
            <a:avLst/>
          </a:prstGeom>
          <a:noFill/>
          <a:ln/>
        </p:spPr>
        <p:txBody>
          <a:bodyPr wrap="square" lIns="0" tIns="0" rIns="0" bIns="0" rtlCol="0" anchor="ctr">
            <a:normAutofit/>
          </a:bodyPr>
          <a:lstStyle/>
          <a:p>
            <a:r>
              <a:t>It can run on Windows, macOS, Linux, and Solaris hosts.</a:t>
            </a:r>
          </a:p>
        </p:txBody>
      </p:sp>
      <p:sp>
        <p:nvSpPr>
          <p:cNvPr id="20" name="Text 18"/>
          <p:cNvSpPr/>
          <p:nvPr/>
        </p:nvSpPr>
        <p:spPr>
          <a:xfrm>
            <a:off x="1051560" y="4846320"/>
            <a:ext cx="10058400" cy="384048"/>
          </a:xfrm>
          <a:prstGeom prst="rect">
            <a:avLst/>
          </a:prstGeom>
          <a:noFill/>
          <a:ln/>
        </p:spPr>
        <p:txBody>
          <a:bodyPr wrap="square" lIns="0" tIns="0" rIns="0" bIns="0" rtlCol="0" anchor="ctr"/>
          <a:lstStyle/>
          <a:p>
            <a:r>
              <a:t>For our class, it gives us a safe place to try another OS without changing the main computer.</a:t>
            </a:r>
          </a:p>
        </p:txBody>
      </p:sp>
    </p:spTree>
    <p:extLst>
      <p:ext uri="{BB962C8B-B14F-4D97-AF65-F5344CB8AC3E}">
        <p14:creationId xmlns:p14="http://schemas.microsoft.com/office/powerpoint/2010/main" val="350079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1F3B5A"/>
          </a:solidFill>
          <a:ln w="12700">
            <a:solidFill>
              <a:srgbClr val="1F3B5A"/>
            </a:solidFill>
            <a:prstDash val="solid"/>
          </a:ln>
        </p:spPr>
        <p:txBody>
          <a:bodyPr/>
          <a:lstStyle/>
          <a:p>
            <a:endParaRPr/>
          </a:p>
        </p:txBody>
      </p:sp>
      <p:sp>
        <p:nvSpPr>
          <p:cNvPr id="3" name="Text 1"/>
          <p:cNvSpPr/>
          <p:nvPr/>
        </p:nvSpPr>
        <p:spPr>
          <a:xfrm>
            <a:off x="502920" y="164592"/>
            <a:ext cx="8138160" cy="402336"/>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Hypervisor Type</a:t>
            </a:r>
            <a:endParaRPr lang="en-US" sz="2200" dirty="0"/>
          </a:p>
        </p:txBody>
      </p:sp>
      <p:sp>
        <p:nvSpPr>
          <p:cNvPr id="4" name="Text 2"/>
          <p:cNvSpPr/>
          <p:nvPr/>
        </p:nvSpPr>
        <p:spPr>
          <a:xfrm>
            <a:off x="8732520" y="228600"/>
            <a:ext cx="2834640" cy="274320"/>
          </a:xfrm>
          <a:prstGeom prst="rect">
            <a:avLst/>
          </a:prstGeom>
          <a:noFill/>
          <a:ln/>
        </p:spPr>
        <p:txBody>
          <a:bodyPr wrap="square" lIns="0" tIns="0" rIns="0" bIns="0" rtlCol="0" anchor="ctr"/>
          <a:lstStyle/>
          <a:p>
            <a:pPr marL="0" indent="0" algn="r">
              <a:buNone/>
            </a:pPr>
            <a:r>
              <a:rPr lang="en-US" sz="1050" dirty="0">
                <a:solidFill>
                  <a:srgbClr val="D6E2EF"/>
                </a:solidFill>
              </a:rPr>
              <a:t>Type 2 / hosted</a:t>
            </a:r>
            <a:endParaRPr lang="en-US" sz="1050" dirty="0"/>
          </a:p>
        </p:txBody>
      </p:sp>
      <p:sp>
        <p:nvSpPr>
          <p:cNvPr id="5" name="Shape 3"/>
          <p:cNvSpPr/>
          <p:nvPr/>
        </p:nvSpPr>
        <p:spPr>
          <a:xfrm>
            <a:off x="502920" y="6355080"/>
            <a:ext cx="11155680" cy="0"/>
          </a:xfrm>
          <a:prstGeom prst="line">
            <a:avLst/>
          </a:prstGeom>
          <a:noFill/>
          <a:ln w="8890">
            <a:solidFill>
              <a:srgbClr val="CED8E2"/>
            </a:solidFill>
            <a:prstDash val="solid"/>
          </a:ln>
        </p:spPr>
        <p:txBody>
          <a:bodyPr/>
          <a:lstStyle/>
          <a:p>
            <a:endParaRPr/>
          </a:p>
        </p:txBody>
      </p:sp>
      <p:sp>
        <p:nvSpPr>
          <p:cNvPr id="6" name="Text 4"/>
          <p:cNvSpPr/>
          <p:nvPr/>
        </p:nvSpPr>
        <p:spPr>
          <a:xfrm>
            <a:off x="502920" y="6419088"/>
            <a:ext cx="5943600" cy="219456"/>
          </a:xfrm>
          <a:prstGeom prst="rect">
            <a:avLst/>
          </a:prstGeom>
          <a:noFill/>
          <a:ln/>
        </p:spPr>
        <p:txBody>
          <a:bodyPr wrap="square" lIns="0" tIns="0" rIns="0" bIns="0" rtlCol="0" anchor="ctr"/>
          <a:lstStyle/>
          <a:p>
            <a:pPr marL="0" indent="0">
              <a:buNone/>
            </a:pPr>
            <a:r>
              <a:rPr lang="en-US" sz="850" dirty="0">
                <a:solidFill>
                  <a:srgbClr val="526476"/>
                </a:solidFill>
              </a:rPr>
              <a:t>CYB120L 1.3 In-Class Activity • Hypervisors</a:t>
            </a:r>
            <a:endParaRPr lang="en-US" sz="850" dirty="0"/>
          </a:p>
        </p:txBody>
      </p:sp>
      <p:sp>
        <p:nvSpPr>
          <p:cNvPr id="7" name="Shape 5"/>
          <p:cNvSpPr/>
          <p:nvPr/>
        </p:nvSpPr>
        <p:spPr>
          <a:xfrm>
            <a:off x="868680" y="1051560"/>
            <a:ext cx="2103120" cy="402336"/>
          </a:xfrm>
          <a:prstGeom prst="roundRect">
            <a:avLst>
              <a:gd name="adj" fmla="val 27273"/>
            </a:avLst>
          </a:prstGeom>
          <a:solidFill>
            <a:srgbClr val="E6F0FA"/>
          </a:solidFill>
          <a:ln w="12700">
            <a:solidFill>
              <a:srgbClr val="E6F0FA">
                <a:alpha val="0"/>
              </a:srgbClr>
            </a:solidFill>
            <a:prstDash val="solid"/>
          </a:ln>
        </p:spPr>
        <p:txBody>
          <a:bodyPr/>
          <a:lstStyle/>
          <a:p>
            <a:endParaRPr/>
          </a:p>
        </p:txBody>
      </p:sp>
      <p:sp>
        <p:nvSpPr>
          <p:cNvPr id="8" name="Text 6"/>
          <p:cNvSpPr/>
          <p:nvPr/>
        </p:nvSpPr>
        <p:spPr>
          <a:xfrm>
            <a:off x="978408" y="1152144"/>
            <a:ext cx="1883664" cy="182880"/>
          </a:xfrm>
          <a:prstGeom prst="rect">
            <a:avLst/>
          </a:prstGeom>
          <a:noFill/>
          <a:ln/>
        </p:spPr>
        <p:txBody>
          <a:bodyPr wrap="square" lIns="0" tIns="0" rIns="0" bIns="0" rtlCol="0" anchor="ctr"/>
          <a:lstStyle/>
          <a:p>
            <a:pPr marL="0" indent="0" algn="ctr">
              <a:buNone/>
            </a:pPr>
            <a:r>
              <a:rPr lang="en-US" sz="1100" b="1" dirty="0">
                <a:solidFill>
                  <a:srgbClr val="18304A"/>
                </a:solidFill>
              </a:rPr>
              <a:t>Type 2 hypervisor</a:t>
            </a:r>
            <a:endParaRPr lang="en-US" sz="1100" dirty="0"/>
          </a:p>
        </p:txBody>
      </p:sp>
      <p:sp>
        <p:nvSpPr>
          <p:cNvPr id="9" name="Text 7"/>
          <p:cNvSpPr/>
          <p:nvPr/>
        </p:nvSpPr>
        <p:spPr>
          <a:xfrm>
            <a:off x="868680" y="1618488"/>
            <a:ext cx="10332720" cy="457200"/>
          </a:xfrm>
          <a:prstGeom prst="rect">
            <a:avLst/>
          </a:prstGeom>
          <a:noFill/>
          <a:ln/>
        </p:spPr>
        <p:txBody>
          <a:bodyPr wrap="square" lIns="0" tIns="0" rIns="0" bIns="0" rtlCol="0" anchor="ctr"/>
          <a:lstStyle/>
          <a:p>
            <a:r>
              <a:t>Runs on top of the host operating system, so it is OS-dependent.</a:t>
            </a:r>
          </a:p>
        </p:txBody>
      </p:sp>
      <p:sp>
        <p:nvSpPr>
          <p:cNvPr id="10" name="Shape 8"/>
          <p:cNvSpPr/>
          <p:nvPr/>
        </p:nvSpPr>
        <p:spPr>
          <a:xfrm>
            <a:off x="3291840" y="2468880"/>
            <a:ext cx="5669280" cy="658368"/>
          </a:xfrm>
          <a:prstGeom prst="roundRect">
            <a:avLst>
              <a:gd name="adj" fmla="val 6944"/>
            </a:avLst>
          </a:prstGeom>
          <a:solidFill>
            <a:srgbClr val="DDEDF8"/>
          </a:solidFill>
          <a:ln w="12700">
            <a:solidFill>
              <a:srgbClr val="ACC7DA"/>
            </a:solidFill>
            <a:prstDash val="solid"/>
          </a:ln>
        </p:spPr>
        <p:txBody>
          <a:bodyPr/>
          <a:lstStyle/>
          <a:p>
            <a:endParaRPr/>
          </a:p>
        </p:txBody>
      </p:sp>
      <p:sp>
        <p:nvSpPr>
          <p:cNvPr id="11" name="Text 9"/>
          <p:cNvSpPr/>
          <p:nvPr/>
        </p:nvSpPr>
        <p:spPr>
          <a:xfrm>
            <a:off x="3291840" y="2670048"/>
            <a:ext cx="5669280" cy="201168"/>
          </a:xfrm>
          <a:prstGeom prst="rect">
            <a:avLst/>
          </a:prstGeom>
          <a:noFill/>
          <a:ln/>
        </p:spPr>
        <p:txBody>
          <a:bodyPr wrap="square" lIns="0" tIns="0" rIns="0" bIns="0" rtlCol="0" anchor="ctr"/>
          <a:lstStyle/>
          <a:p>
            <a:pPr marL="0" indent="0" algn="ctr">
              <a:buNone/>
            </a:pPr>
            <a:r>
              <a:rPr lang="en-US" sz="1500" b="1" dirty="0">
                <a:solidFill>
                  <a:srgbClr val="18304A"/>
                </a:solidFill>
              </a:rPr>
              <a:t>Guest OS / Virtual Machines</a:t>
            </a:r>
            <a:endParaRPr lang="en-US" sz="1500" dirty="0"/>
          </a:p>
        </p:txBody>
      </p:sp>
      <p:sp>
        <p:nvSpPr>
          <p:cNvPr id="12" name="Shape 10"/>
          <p:cNvSpPr/>
          <p:nvPr/>
        </p:nvSpPr>
        <p:spPr>
          <a:xfrm>
            <a:off x="3291840" y="3264408"/>
            <a:ext cx="5669280" cy="658368"/>
          </a:xfrm>
          <a:prstGeom prst="roundRect">
            <a:avLst>
              <a:gd name="adj" fmla="val 6944"/>
            </a:avLst>
          </a:prstGeom>
          <a:solidFill>
            <a:srgbClr val="EAF4EC"/>
          </a:solidFill>
          <a:ln w="12700">
            <a:solidFill>
              <a:srgbClr val="BCD6C3"/>
            </a:solidFill>
            <a:prstDash val="solid"/>
          </a:ln>
        </p:spPr>
        <p:txBody>
          <a:bodyPr/>
          <a:lstStyle/>
          <a:p>
            <a:endParaRPr/>
          </a:p>
        </p:txBody>
      </p:sp>
      <p:sp>
        <p:nvSpPr>
          <p:cNvPr id="13" name="Text 11"/>
          <p:cNvSpPr/>
          <p:nvPr/>
        </p:nvSpPr>
        <p:spPr>
          <a:xfrm>
            <a:off x="3291840" y="3465576"/>
            <a:ext cx="5669280" cy="201168"/>
          </a:xfrm>
          <a:prstGeom prst="rect">
            <a:avLst/>
          </a:prstGeom>
          <a:noFill/>
          <a:ln/>
        </p:spPr>
        <p:txBody>
          <a:bodyPr wrap="square" lIns="0" tIns="0" rIns="0" bIns="0" rtlCol="0" anchor="ctr"/>
          <a:lstStyle/>
          <a:p>
            <a:pPr marL="0" indent="0" algn="ctr">
              <a:buNone/>
            </a:pPr>
            <a:r>
              <a:rPr lang="en-US" sz="1500" b="1" dirty="0">
                <a:solidFill>
                  <a:srgbClr val="18304A"/>
                </a:solidFill>
              </a:rPr>
              <a:t>Oracle VirtualBox</a:t>
            </a:r>
            <a:endParaRPr lang="en-US" sz="1500" dirty="0"/>
          </a:p>
        </p:txBody>
      </p:sp>
      <p:sp>
        <p:nvSpPr>
          <p:cNvPr id="14" name="Shape 12"/>
          <p:cNvSpPr/>
          <p:nvPr/>
        </p:nvSpPr>
        <p:spPr>
          <a:xfrm>
            <a:off x="3291840" y="4059936"/>
            <a:ext cx="5669280" cy="658368"/>
          </a:xfrm>
          <a:prstGeom prst="roundRect">
            <a:avLst>
              <a:gd name="adj" fmla="val 6944"/>
            </a:avLst>
          </a:prstGeom>
          <a:solidFill>
            <a:srgbClr val="FFF1DE"/>
          </a:solidFill>
          <a:ln w="12700">
            <a:solidFill>
              <a:srgbClr val="E6C898"/>
            </a:solidFill>
            <a:prstDash val="solid"/>
          </a:ln>
        </p:spPr>
        <p:txBody>
          <a:bodyPr/>
          <a:lstStyle/>
          <a:p>
            <a:endParaRPr/>
          </a:p>
        </p:txBody>
      </p:sp>
      <p:sp>
        <p:nvSpPr>
          <p:cNvPr id="15" name="Text 13"/>
          <p:cNvSpPr/>
          <p:nvPr/>
        </p:nvSpPr>
        <p:spPr>
          <a:xfrm>
            <a:off x="3291840" y="4261104"/>
            <a:ext cx="5669280" cy="201168"/>
          </a:xfrm>
          <a:prstGeom prst="rect">
            <a:avLst/>
          </a:prstGeom>
          <a:noFill/>
          <a:ln/>
        </p:spPr>
        <p:txBody>
          <a:bodyPr wrap="square" lIns="0" tIns="0" rIns="0" bIns="0" rtlCol="0" anchor="ctr"/>
          <a:lstStyle/>
          <a:p>
            <a:pPr marL="0" indent="0" algn="ctr">
              <a:buNone/>
            </a:pPr>
            <a:r>
              <a:rPr lang="en-US" sz="1500" b="1" dirty="0">
                <a:solidFill>
                  <a:srgbClr val="18304A"/>
                </a:solidFill>
              </a:rPr>
              <a:t>Host Operating System</a:t>
            </a:r>
            <a:endParaRPr lang="en-US" sz="1500" dirty="0"/>
          </a:p>
        </p:txBody>
      </p:sp>
      <p:sp>
        <p:nvSpPr>
          <p:cNvPr id="16" name="Shape 14"/>
          <p:cNvSpPr/>
          <p:nvPr/>
        </p:nvSpPr>
        <p:spPr>
          <a:xfrm>
            <a:off x="3291840" y="4855464"/>
            <a:ext cx="5669280" cy="658368"/>
          </a:xfrm>
          <a:prstGeom prst="roundRect">
            <a:avLst>
              <a:gd name="adj" fmla="val 6944"/>
            </a:avLst>
          </a:prstGeom>
          <a:solidFill>
            <a:srgbClr val="F1F3F5"/>
          </a:solidFill>
          <a:ln w="12700">
            <a:solidFill>
              <a:srgbClr val="CCD5DD"/>
            </a:solidFill>
            <a:prstDash val="solid"/>
          </a:ln>
        </p:spPr>
        <p:txBody>
          <a:bodyPr/>
          <a:lstStyle/>
          <a:p>
            <a:endParaRPr/>
          </a:p>
        </p:txBody>
      </p:sp>
      <p:sp>
        <p:nvSpPr>
          <p:cNvPr id="17" name="Text 15"/>
          <p:cNvSpPr/>
          <p:nvPr/>
        </p:nvSpPr>
        <p:spPr>
          <a:xfrm>
            <a:off x="3291840" y="5056632"/>
            <a:ext cx="5669280" cy="201168"/>
          </a:xfrm>
          <a:prstGeom prst="rect">
            <a:avLst/>
          </a:prstGeom>
          <a:noFill/>
          <a:ln/>
        </p:spPr>
        <p:txBody>
          <a:bodyPr wrap="square" lIns="0" tIns="0" rIns="0" bIns="0" rtlCol="0" anchor="ctr"/>
          <a:lstStyle/>
          <a:p>
            <a:pPr marL="0" indent="0" algn="ctr">
              <a:buNone/>
            </a:pPr>
            <a:r>
              <a:rPr lang="en-US" sz="1500" b="1" dirty="0">
                <a:solidFill>
                  <a:srgbClr val="18304A"/>
                </a:solidFill>
              </a:rPr>
              <a:t>Physical Hardware</a:t>
            </a:r>
            <a:endParaRPr lang="en-US" sz="1500" dirty="0"/>
          </a:p>
        </p:txBody>
      </p:sp>
      <p:sp>
        <p:nvSpPr>
          <p:cNvPr id="18" name="Text 16"/>
          <p:cNvSpPr/>
          <p:nvPr/>
        </p:nvSpPr>
        <p:spPr>
          <a:xfrm>
            <a:off x="868680" y="5760720"/>
            <a:ext cx="10332720" cy="384048"/>
          </a:xfrm>
          <a:prstGeom prst="rect">
            <a:avLst/>
          </a:prstGeom>
          <a:noFill/>
          <a:ln/>
        </p:spPr>
        <p:txBody>
          <a:bodyPr wrap="square" lIns="0" tIns="0" rIns="0" bIns="0" rtlCol="0" anchor="ctr">
            <a:normAutofit/>
          </a:bodyPr>
          <a:lstStyle/>
          <a:p>
            <a:r>
              <a:t>It is easier to set up, but it can be slower than a Type 1 hypervisor that runs directly on hardware.</a:t>
            </a:r>
          </a:p>
        </p:txBody>
      </p:sp>
    </p:spTree>
    <p:extLst>
      <p:ext uri="{BB962C8B-B14F-4D97-AF65-F5344CB8AC3E}">
        <p14:creationId xmlns:p14="http://schemas.microsoft.com/office/powerpoint/2010/main" val="3401190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1F3B5A"/>
          </a:solidFill>
          <a:ln w="12700">
            <a:solidFill>
              <a:srgbClr val="1F3B5A"/>
            </a:solidFill>
            <a:prstDash val="solid"/>
          </a:ln>
        </p:spPr>
        <p:txBody>
          <a:bodyPr/>
          <a:lstStyle/>
          <a:p>
            <a:endParaRPr/>
          </a:p>
        </p:txBody>
      </p:sp>
      <p:sp>
        <p:nvSpPr>
          <p:cNvPr id="3" name="Text 1"/>
          <p:cNvSpPr/>
          <p:nvPr/>
        </p:nvSpPr>
        <p:spPr>
          <a:xfrm>
            <a:off x="502920" y="164592"/>
            <a:ext cx="8138160" cy="402336"/>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Advantages of Oracle VirtualBox</a:t>
            </a:r>
            <a:endParaRPr lang="en-US" sz="2200" dirty="0"/>
          </a:p>
        </p:txBody>
      </p:sp>
      <p:sp>
        <p:nvSpPr>
          <p:cNvPr id="4" name="Text 2"/>
          <p:cNvSpPr/>
          <p:nvPr/>
        </p:nvSpPr>
        <p:spPr>
          <a:xfrm>
            <a:off x="8732520" y="228600"/>
            <a:ext cx="2834640" cy="274320"/>
          </a:xfrm>
          <a:prstGeom prst="rect">
            <a:avLst/>
          </a:prstGeom>
          <a:noFill/>
          <a:ln/>
        </p:spPr>
        <p:txBody>
          <a:bodyPr wrap="square" lIns="0" tIns="0" rIns="0" bIns="0" rtlCol="0" anchor="ctr"/>
          <a:lstStyle/>
          <a:p>
            <a:pPr marL="0" indent="0" algn="r">
              <a:buNone/>
            </a:pPr>
            <a:r>
              <a:rPr lang="en-US" sz="1050" dirty="0">
                <a:solidFill>
                  <a:srgbClr val="D6E2EF"/>
                </a:solidFill>
              </a:rPr>
              <a:t>Pros</a:t>
            </a:r>
            <a:endParaRPr lang="en-US" sz="1050" dirty="0"/>
          </a:p>
        </p:txBody>
      </p:sp>
      <p:sp>
        <p:nvSpPr>
          <p:cNvPr id="5" name="Shape 3"/>
          <p:cNvSpPr/>
          <p:nvPr/>
        </p:nvSpPr>
        <p:spPr>
          <a:xfrm>
            <a:off x="502920" y="6355080"/>
            <a:ext cx="11155680" cy="0"/>
          </a:xfrm>
          <a:prstGeom prst="line">
            <a:avLst/>
          </a:prstGeom>
          <a:noFill/>
          <a:ln w="8890">
            <a:solidFill>
              <a:srgbClr val="CED8E2"/>
            </a:solidFill>
            <a:prstDash val="solid"/>
          </a:ln>
        </p:spPr>
        <p:txBody>
          <a:bodyPr/>
          <a:lstStyle/>
          <a:p>
            <a:endParaRPr/>
          </a:p>
        </p:txBody>
      </p:sp>
      <p:sp>
        <p:nvSpPr>
          <p:cNvPr id="6" name="Text 4"/>
          <p:cNvSpPr/>
          <p:nvPr/>
        </p:nvSpPr>
        <p:spPr>
          <a:xfrm>
            <a:off x="502920" y="6419088"/>
            <a:ext cx="5943600" cy="219456"/>
          </a:xfrm>
          <a:prstGeom prst="rect">
            <a:avLst/>
          </a:prstGeom>
          <a:noFill/>
          <a:ln/>
        </p:spPr>
        <p:txBody>
          <a:bodyPr wrap="square" lIns="0" tIns="0" rIns="0" bIns="0" rtlCol="0" anchor="ctr"/>
          <a:lstStyle/>
          <a:p>
            <a:pPr marL="0" indent="0">
              <a:buNone/>
            </a:pPr>
            <a:r>
              <a:rPr lang="en-US" sz="850" dirty="0">
                <a:solidFill>
                  <a:srgbClr val="526476"/>
                </a:solidFill>
              </a:rPr>
              <a:t>CYB120L 1.3 In-Class Activity • Hypervisors</a:t>
            </a:r>
            <a:endParaRPr lang="en-US" sz="850" dirty="0"/>
          </a:p>
        </p:txBody>
      </p:sp>
      <p:sp>
        <p:nvSpPr>
          <p:cNvPr id="7" name="Shape 5"/>
          <p:cNvSpPr/>
          <p:nvPr/>
        </p:nvSpPr>
        <p:spPr>
          <a:xfrm>
            <a:off x="731520" y="1143000"/>
            <a:ext cx="3474720" cy="1600200"/>
          </a:xfrm>
          <a:prstGeom prst="roundRect">
            <a:avLst>
              <a:gd name="adj" fmla="val 6857"/>
            </a:avLst>
          </a:prstGeom>
          <a:solidFill>
            <a:srgbClr val="F7F9FB"/>
          </a:solidFill>
          <a:ln w="12700">
            <a:solidFill>
              <a:srgbClr val="D8E1EA"/>
            </a:solidFill>
            <a:prstDash val="solid"/>
          </a:ln>
        </p:spPr>
        <p:txBody>
          <a:bodyPr/>
          <a:lstStyle/>
          <a:p>
            <a:endParaRPr/>
          </a:p>
        </p:txBody>
      </p:sp>
      <p:sp>
        <p:nvSpPr>
          <p:cNvPr id="8" name="Shape 6"/>
          <p:cNvSpPr/>
          <p:nvPr/>
        </p:nvSpPr>
        <p:spPr>
          <a:xfrm>
            <a:off x="731520" y="1143000"/>
            <a:ext cx="73152" cy="1600200"/>
          </a:xfrm>
          <a:prstGeom prst="rect">
            <a:avLst/>
          </a:prstGeom>
          <a:solidFill>
            <a:srgbClr val="5AA469"/>
          </a:solidFill>
          <a:ln w="12700">
            <a:solidFill>
              <a:srgbClr val="5AA469"/>
            </a:solidFill>
            <a:prstDash val="solid"/>
          </a:ln>
        </p:spPr>
        <p:txBody>
          <a:bodyPr/>
          <a:lstStyle/>
          <a:p>
            <a:endParaRPr/>
          </a:p>
        </p:txBody>
      </p:sp>
      <p:sp>
        <p:nvSpPr>
          <p:cNvPr id="9" name="Text 7"/>
          <p:cNvSpPr/>
          <p:nvPr/>
        </p:nvSpPr>
        <p:spPr>
          <a:xfrm>
            <a:off x="969264" y="1307592"/>
            <a:ext cx="3054096" cy="320040"/>
          </a:xfrm>
          <a:prstGeom prst="rect">
            <a:avLst/>
          </a:prstGeom>
          <a:noFill/>
          <a:ln/>
        </p:spPr>
        <p:txBody>
          <a:bodyPr wrap="square" lIns="0" tIns="0" rIns="0" bIns="0" rtlCol="0" anchor="ctr"/>
          <a:lstStyle/>
          <a:p>
            <a:pPr marL="0" indent="0">
              <a:buNone/>
            </a:pPr>
            <a:r>
              <a:rPr lang="en-US" sz="1800" b="1" dirty="0">
                <a:solidFill>
                  <a:srgbClr val="18304A"/>
                </a:solidFill>
              </a:rPr>
              <a:t>Free and accessible</a:t>
            </a:r>
            <a:endParaRPr lang="en-US" sz="1800" dirty="0"/>
          </a:p>
        </p:txBody>
      </p:sp>
      <p:sp>
        <p:nvSpPr>
          <p:cNvPr id="10" name="Text 8"/>
          <p:cNvSpPr/>
          <p:nvPr/>
        </p:nvSpPr>
        <p:spPr>
          <a:xfrm>
            <a:off x="969264" y="1801368"/>
            <a:ext cx="3054096" cy="777240"/>
          </a:xfrm>
          <a:prstGeom prst="rect">
            <a:avLst/>
          </a:prstGeom>
          <a:noFill/>
          <a:ln/>
        </p:spPr>
        <p:txBody>
          <a:bodyPr wrap="square" lIns="0" tIns="0" rIns="0" bIns="0" rtlCol="0" anchor="ctr">
            <a:normAutofit/>
          </a:bodyPr>
          <a:lstStyle/>
          <a:p>
            <a:r>
              <a:t>Good for school labs and home practice.</a:t>
            </a:r>
          </a:p>
        </p:txBody>
      </p:sp>
      <p:sp>
        <p:nvSpPr>
          <p:cNvPr id="11" name="Shape 9"/>
          <p:cNvSpPr/>
          <p:nvPr/>
        </p:nvSpPr>
        <p:spPr>
          <a:xfrm>
            <a:off x="4370832" y="1143000"/>
            <a:ext cx="3474720" cy="1600200"/>
          </a:xfrm>
          <a:prstGeom prst="roundRect">
            <a:avLst>
              <a:gd name="adj" fmla="val 6857"/>
            </a:avLst>
          </a:prstGeom>
          <a:solidFill>
            <a:srgbClr val="F7F9FB"/>
          </a:solidFill>
          <a:ln w="12700">
            <a:solidFill>
              <a:srgbClr val="D8E1EA"/>
            </a:solidFill>
            <a:prstDash val="solid"/>
          </a:ln>
        </p:spPr>
        <p:txBody>
          <a:bodyPr/>
          <a:lstStyle/>
          <a:p>
            <a:endParaRPr/>
          </a:p>
        </p:txBody>
      </p:sp>
      <p:sp>
        <p:nvSpPr>
          <p:cNvPr id="12" name="Shape 10"/>
          <p:cNvSpPr/>
          <p:nvPr/>
        </p:nvSpPr>
        <p:spPr>
          <a:xfrm>
            <a:off x="4370832" y="1143000"/>
            <a:ext cx="73152" cy="1600200"/>
          </a:xfrm>
          <a:prstGeom prst="rect">
            <a:avLst/>
          </a:prstGeom>
          <a:solidFill>
            <a:srgbClr val="2E6F9E"/>
          </a:solidFill>
          <a:ln w="12700">
            <a:solidFill>
              <a:srgbClr val="2E6F9E"/>
            </a:solidFill>
            <a:prstDash val="solid"/>
          </a:ln>
        </p:spPr>
        <p:txBody>
          <a:bodyPr/>
          <a:lstStyle/>
          <a:p>
            <a:endParaRPr/>
          </a:p>
        </p:txBody>
      </p:sp>
      <p:sp>
        <p:nvSpPr>
          <p:cNvPr id="13" name="Text 11"/>
          <p:cNvSpPr/>
          <p:nvPr/>
        </p:nvSpPr>
        <p:spPr>
          <a:xfrm>
            <a:off x="4608576" y="1307592"/>
            <a:ext cx="3054096" cy="320040"/>
          </a:xfrm>
          <a:prstGeom prst="rect">
            <a:avLst/>
          </a:prstGeom>
          <a:noFill/>
          <a:ln/>
        </p:spPr>
        <p:txBody>
          <a:bodyPr wrap="square" lIns="0" tIns="0" rIns="0" bIns="0" rtlCol="0" anchor="ctr"/>
          <a:lstStyle/>
          <a:p>
            <a:pPr marL="0" indent="0">
              <a:buNone/>
            </a:pPr>
            <a:r>
              <a:rPr lang="en-US" sz="1800" b="1" dirty="0">
                <a:solidFill>
                  <a:srgbClr val="18304A"/>
                </a:solidFill>
              </a:rPr>
              <a:t>Cross-platform</a:t>
            </a:r>
            <a:endParaRPr lang="en-US" sz="1800" dirty="0"/>
          </a:p>
        </p:txBody>
      </p:sp>
      <p:sp>
        <p:nvSpPr>
          <p:cNvPr id="14" name="Text 12"/>
          <p:cNvSpPr/>
          <p:nvPr/>
        </p:nvSpPr>
        <p:spPr>
          <a:xfrm>
            <a:off x="4608576" y="1801368"/>
            <a:ext cx="3054096" cy="777240"/>
          </a:xfrm>
          <a:prstGeom prst="rect">
            <a:avLst/>
          </a:prstGeom>
          <a:noFill/>
          <a:ln/>
        </p:spPr>
        <p:txBody>
          <a:bodyPr wrap="square" lIns="0" tIns="0" rIns="0" bIns="0" rtlCol="0" anchor="ctr">
            <a:normAutofit/>
          </a:bodyPr>
          <a:lstStyle/>
          <a:p>
            <a:r>
              <a:t>Works on different host systems.</a:t>
            </a:r>
          </a:p>
        </p:txBody>
      </p:sp>
      <p:sp>
        <p:nvSpPr>
          <p:cNvPr id="15" name="Shape 13"/>
          <p:cNvSpPr/>
          <p:nvPr/>
        </p:nvSpPr>
        <p:spPr>
          <a:xfrm>
            <a:off x="8010144" y="1143000"/>
            <a:ext cx="3474720" cy="1600200"/>
          </a:xfrm>
          <a:prstGeom prst="roundRect">
            <a:avLst>
              <a:gd name="adj" fmla="val 6857"/>
            </a:avLst>
          </a:prstGeom>
          <a:solidFill>
            <a:srgbClr val="F7F9FB"/>
          </a:solidFill>
          <a:ln w="12700">
            <a:solidFill>
              <a:srgbClr val="D8E1EA"/>
            </a:solidFill>
            <a:prstDash val="solid"/>
          </a:ln>
        </p:spPr>
        <p:txBody>
          <a:bodyPr/>
          <a:lstStyle/>
          <a:p>
            <a:endParaRPr/>
          </a:p>
        </p:txBody>
      </p:sp>
      <p:sp>
        <p:nvSpPr>
          <p:cNvPr id="16" name="Shape 14"/>
          <p:cNvSpPr/>
          <p:nvPr/>
        </p:nvSpPr>
        <p:spPr>
          <a:xfrm>
            <a:off x="8010144" y="1143000"/>
            <a:ext cx="73152" cy="1600200"/>
          </a:xfrm>
          <a:prstGeom prst="rect">
            <a:avLst/>
          </a:prstGeom>
          <a:solidFill>
            <a:srgbClr val="F4A259"/>
          </a:solidFill>
          <a:ln w="12700">
            <a:solidFill>
              <a:srgbClr val="F4A259"/>
            </a:solidFill>
            <a:prstDash val="solid"/>
          </a:ln>
        </p:spPr>
        <p:txBody>
          <a:bodyPr/>
          <a:lstStyle/>
          <a:p>
            <a:endParaRPr/>
          </a:p>
        </p:txBody>
      </p:sp>
      <p:sp>
        <p:nvSpPr>
          <p:cNvPr id="17" name="Text 15"/>
          <p:cNvSpPr/>
          <p:nvPr/>
        </p:nvSpPr>
        <p:spPr>
          <a:xfrm>
            <a:off x="8247888" y="1307592"/>
            <a:ext cx="3054096" cy="320040"/>
          </a:xfrm>
          <a:prstGeom prst="rect">
            <a:avLst/>
          </a:prstGeom>
          <a:noFill/>
          <a:ln/>
        </p:spPr>
        <p:txBody>
          <a:bodyPr wrap="square" lIns="0" tIns="0" rIns="0" bIns="0" rtlCol="0" anchor="ctr"/>
          <a:lstStyle/>
          <a:p>
            <a:pPr marL="0" indent="0">
              <a:buNone/>
            </a:pPr>
            <a:r>
              <a:rPr lang="en-US" sz="1800" b="1" dirty="0">
                <a:solidFill>
                  <a:srgbClr val="18304A"/>
                </a:solidFill>
              </a:rPr>
              <a:t>Beginner friendly</a:t>
            </a:r>
            <a:endParaRPr lang="en-US" sz="1800" dirty="0"/>
          </a:p>
        </p:txBody>
      </p:sp>
      <p:sp>
        <p:nvSpPr>
          <p:cNvPr id="18" name="Text 16"/>
          <p:cNvSpPr/>
          <p:nvPr/>
        </p:nvSpPr>
        <p:spPr>
          <a:xfrm>
            <a:off x="8247888" y="1801368"/>
            <a:ext cx="3054096" cy="777240"/>
          </a:xfrm>
          <a:prstGeom prst="rect">
            <a:avLst/>
          </a:prstGeom>
          <a:noFill/>
          <a:ln/>
        </p:spPr>
        <p:txBody>
          <a:bodyPr wrap="square" lIns="0" tIns="0" rIns="0" bIns="0" rtlCol="0" anchor="ctr">
            <a:normAutofit/>
          </a:bodyPr>
          <a:lstStyle/>
          <a:p>
            <a:r>
              <a:t>The menus make it easier to create and manage VMs.</a:t>
            </a:r>
          </a:p>
        </p:txBody>
      </p:sp>
      <p:sp>
        <p:nvSpPr>
          <p:cNvPr id="19" name="Shape 17"/>
          <p:cNvSpPr/>
          <p:nvPr/>
        </p:nvSpPr>
        <p:spPr>
          <a:xfrm>
            <a:off x="731520" y="3246120"/>
            <a:ext cx="3474720" cy="1600200"/>
          </a:xfrm>
          <a:prstGeom prst="roundRect">
            <a:avLst>
              <a:gd name="adj" fmla="val 6857"/>
            </a:avLst>
          </a:prstGeom>
          <a:solidFill>
            <a:srgbClr val="F7F9FB"/>
          </a:solidFill>
          <a:ln w="12700">
            <a:solidFill>
              <a:srgbClr val="D8E1EA"/>
            </a:solidFill>
            <a:prstDash val="solid"/>
          </a:ln>
        </p:spPr>
        <p:txBody>
          <a:bodyPr/>
          <a:lstStyle/>
          <a:p>
            <a:endParaRPr/>
          </a:p>
        </p:txBody>
      </p:sp>
      <p:sp>
        <p:nvSpPr>
          <p:cNvPr id="20" name="Shape 18"/>
          <p:cNvSpPr/>
          <p:nvPr/>
        </p:nvSpPr>
        <p:spPr>
          <a:xfrm>
            <a:off x="731520" y="3246120"/>
            <a:ext cx="73152" cy="1600200"/>
          </a:xfrm>
          <a:prstGeom prst="rect">
            <a:avLst/>
          </a:prstGeom>
          <a:solidFill>
            <a:srgbClr val="5AA469"/>
          </a:solidFill>
          <a:ln w="12700">
            <a:solidFill>
              <a:srgbClr val="5AA469"/>
            </a:solidFill>
            <a:prstDash val="solid"/>
          </a:ln>
        </p:spPr>
        <p:txBody>
          <a:bodyPr/>
          <a:lstStyle/>
          <a:p>
            <a:endParaRPr/>
          </a:p>
        </p:txBody>
      </p:sp>
      <p:sp>
        <p:nvSpPr>
          <p:cNvPr id="21" name="Text 19"/>
          <p:cNvSpPr/>
          <p:nvPr/>
        </p:nvSpPr>
        <p:spPr>
          <a:xfrm>
            <a:off x="969264" y="3410712"/>
            <a:ext cx="3054096" cy="320040"/>
          </a:xfrm>
          <a:prstGeom prst="rect">
            <a:avLst/>
          </a:prstGeom>
          <a:noFill/>
          <a:ln/>
        </p:spPr>
        <p:txBody>
          <a:bodyPr wrap="square" lIns="0" tIns="0" rIns="0" bIns="0" rtlCol="0" anchor="ctr"/>
          <a:lstStyle/>
          <a:p>
            <a:pPr marL="0" indent="0">
              <a:buNone/>
            </a:pPr>
            <a:r>
              <a:rPr lang="en-US" sz="1800" b="1" dirty="0">
                <a:solidFill>
                  <a:srgbClr val="18304A"/>
                </a:solidFill>
              </a:rPr>
              <a:t>Snapshots</a:t>
            </a:r>
            <a:endParaRPr lang="en-US" sz="1800" dirty="0"/>
          </a:p>
        </p:txBody>
      </p:sp>
      <p:sp>
        <p:nvSpPr>
          <p:cNvPr id="22" name="Text 20"/>
          <p:cNvSpPr/>
          <p:nvPr/>
        </p:nvSpPr>
        <p:spPr>
          <a:xfrm>
            <a:off x="969264" y="3904488"/>
            <a:ext cx="3054096" cy="777240"/>
          </a:xfrm>
          <a:prstGeom prst="rect">
            <a:avLst/>
          </a:prstGeom>
          <a:noFill/>
          <a:ln/>
        </p:spPr>
        <p:txBody>
          <a:bodyPr wrap="square" lIns="0" tIns="0" rIns="0" bIns="0" rtlCol="0" anchor="ctr">
            <a:normAutofit/>
          </a:bodyPr>
          <a:lstStyle/>
          <a:p>
            <a:r>
              <a:t>Save the VM and go back if something breaks.</a:t>
            </a:r>
          </a:p>
        </p:txBody>
      </p:sp>
      <p:sp>
        <p:nvSpPr>
          <p:cNvPr id="23" name="Shape 21"/>
          <p:cNvSpPr/>
          <p:nvPr/>
        </p:nvSpPr>
        <p:spPr>
          <a:xfrm>
            <a:off x="4370832" y="3246120"/>
            <a:ext cx="3474720" cy="1600200"/>
          </a:xfrm>
          <a:prstGeom prst="roundRect">
            <a:avLst>
              <a:gd name="adj" fmla="val 6857"/>
            </a:avLst>
          </a:prstGeom>
          <a:solidFill>
            <a:srgbClr val="F7F9FB"/>
          </a:solidFill>
          <a:ln w="12700">
            <a:solidFill>
              <a:srgbClr val="D8E1EA"/>
            </a:solidFill>
            <a:prstDash val="solid"/>
          </a:ln>
        </p:spPr>
        <p:txBody>
          <a:bodyPr/>
          <a:lstStyle/>
          <a:p>
            <a:endParaRPr/>
          </a:p>
        </p:txBody>
      </p:sp>
      <p:sp>
        <p:nvSpPr>
          <p:cNvPr id="24" name="Shape 22"/>
          <p:cNvSpPr/>
          <p:nvPr/>
        </p:nvSpPr>
        <p:spPr>
          <a:xfrm>
            <a:off x="4370832" y="3246120"/>
            <a:ext cx="73152" cy="1600200"/>
          </a:xfrm>
          <a:prstGeom prst="rect">
            <a:avLst/>
          </a:prstGeom>
          <a:solidFill>
            <a:srgbClr val="2E6F9E"/>
          </a:solidFill>
          <a:ln w="12700">
            <a:solidFill>
              <a:srgbClr val="2E6F9E"/>
            </a:solidFill>
            <a:prstDash val="solid"/>
          </a:ln>
        </p:spPr>
        <p:txBody>
          <a:bodyPr/>
          <a:lstStyle/>
          <a:p>
            <a:endParaRPr/>
          </a:p>
        </p:txBody>
      </p:sp>
      <p:sp>
        <p:nvSpPr>
          <p:cNvPr id="25" name="Text 23"/>
          <p:cNvSpPr/>
          <p:nvPr/>
        </p:nvSpPr>
        <p:spPr>
          <a:xfrm>
            <a:off x="4608576" y="3410712"/>
            <a:ext cx="3054096" cy="320040"/>
          </a:xfrm>
          <a:prstGeom prst="rect">
            <a:avLst/>
          </a:prstGeom>
          <a:noFill/>
          <a:ln/>
        </p:spPr>
        <p:txBody>
          <a:bodyPr wrap="square" lIns="0" tIns="0" rIns="0" bIns="0" rtlCol="0" anchor="ctr"/>
          <a:lstStyle/>
          <a:p>
            <a:pPr marL="0" indent="0">
              <a:buNone/>
            </a:pPr>
            <a:r>
              <a:rPr lang="en-US" sz="1800" b="1" dirty="0">
                <a:solidFill>
                  <a:srgbClr val="18304A"/>
                </a:solidFill>
              </a:rPr>
              <a:t>Safe testing space</a:t>
            </a:r>
            <a:endParaRPr lang="en-US" sz="1800" dirty="0"/>
          </a:p>
        </p:txBody>
      </p:sp>
      <p:sp>
        <p:nvSpPr>
          <p:cNvPr id="26" name="Text 24"/>
          <p:cNvSpPr/>
          <p:nvPr/>
        </p:nvSpPr>
        <p:spPr>
          <a:xfrm>
            <a:off x="4608576" y="3904488"/>
            <a:ext cx="3054096" cy="777240"/>
          </a:xfrm>
          <a:prstGeom prst="rect">
            <a:avLst/>
          </a:prstGeom>
          <a:noFill/>
          <a:ln/>
        </p:spPr>
        <p:txBody>
          <a:bodyPr wrap="square" lIns="0" tIns="0" rIns="0" bIns="0" rtlCol="0" anchor="ctr">
            <a:normAutofit/>
          </a:bodyPr>
          <a:lstStyle/>
          <a:p>
            <a:r>
              <a:t>Practice without messing up the main computer.</a:t>
            </a:r>
          </a:p>
        </p:txBody>
      </p:sp>
      <p:sp>
        <p:nvSpPr>
          <p:cNvPr id="27" name="Shape 25"/>
          <p:cNvSpPr/>
          <p:nvPr/>
        </p:nvSpPr>
        <p:spPr>
          <a:xfrm>
            <a:off x="8010144" y="3246120"/>
            <a:ext cx="3474720" cy="1600200"/>
          </a:xfrm>
          <a:prstGeom prst="roundRect">
            <a:avLst>
              <a:gd name="adj" fmla="val 6857"/>
            </a:avLst>
          </a:prstGeom>
          <a:solidFill>
            <a:srgbClr val="F7F9FB"/>
          </a:solidFill>
          <a:ln w="12700">
            <a:solidFill>
              <a:srgbClr val="D8E1EA"/>
            </a:solidFill>
            <a:prstDash val="solid"/>
          </a:ln>
        </p:spPr>
        <p:txBody>
          <a:bodyPr/>
          <a:lstStyle/>
          <a:p>
            <a:endParaRPr/>
          </a:p>
        </p:txBody>
      </p:sp>
      <p:sp>
        <p:nvSpPr>
          <p:cNvPr id="28" name="Shape 26"/>
          <p:cNvSpPr/>
          <p:nvPr/>
        </p:nvSpPr>
        <p:spPr>
          <a:xfrm>
            <a:off x="8010144" y="3246120"/>
            <a:ext cx="73152" cy="1600200"/>
          </a:xfrm>
          <a:prstGeom prst="rect">
            <a:avLst/>
          </a:prstGeom>
          <a:solidFill>
            <a:srgbClr val="F4A259"/>
          </a:solidFill>
          <a:ln w="12700">
            <a:solidFill>
              <a:srgbClr val="F4A259"/>
            </a:solidFill>
            <a:prstDash val="solid"/>
          </a:ln>
        </p:spPr>
        <p:txBody>
          <a:bodyPr/>
          <a:lstStyle/>
          <a:p>
            <a:endParaRPr/>
          </a:p>
        </p:txBody>
      </p:sp>
      <p:sp>
        <p:nvSpPr>
          <p:cNvPr id="29" name="Text 27"/>
          <p:cNvSpPr/>
          <p:nvPr/>
        </p:nvSpPr>
        <p:spPr>
          <a:xfrm>
            <a:off x="8247888" y="3410712"/>
            <a:ext cx="3054096" cy="320040"/>
          </a:xfrm>
          <a:prstGeom prst="rect">
            <a:avLst/>
          </a:prstGeom>
          <a:noFill/>
          <a:ln/>
        </p:spPr>
        <p:txBody>
          <a:bodyPr wrap="square" lIns="0" tIns="0" rIns="0" bIns="0" rtlCol="0" anchor="ctr"/>
          <a:lstStyle/>
          <a:p>
            <a:pPr marL="0" indent="0">
              <a:buNone/>
            </a:pPr>
            <a:r>
              <a:rPr lang="en-US" sz="1800" b="1" dirty="0">
                <a:solidFill>
                  <a:srgbClr val="18304A"/>
                </a:solidFill>
              </a:rPr>
              <a:t>Guest Additions</a:t>
            </a:r>
            <a:endParaRPr lang="en-US" sz="1800" dirty="0"/>
          </a:p>
        </p:txBody>
      </p:sp>
      <p:sp>
        <p:nvSpPr>
          <p:cNvPr id="30" name="Text 28"/>
          <p:cNvSpPr/>
          <p:nvPr/>
        </p:nvSpPr>
        <p:spPr>
          <a:xfrm>
            <a:off x="8247888" y="3904488"/>
            <a:ext cx="3054096" cy="777240"/>
          </a:xfrm>
          <a:prstGeom prst="rect">
            <a:avLst/>
          </a:prstGeom>
          <a:noFill/>
          <a:ln/>
        </p:spPr>
        <p:txBody>
          <a:bodyPr wrap="square" lIns="0" tIns="0" rIns="0" bIns="0" rtlCol="0" anchor="ctr">
            <a:normAutofit/>
          </a:bodyPr>
          <a:lstStyle/>
          <a:p>
            <a:r>
              <a:t>Helps with display resizing, clipboard use, and smoother control.</a:t>
            </a:r>
          </a:p>
        </p:txBody>
      </p:sp>
    </p:spTree>
    <p:extLst>
      <p:ext uri="{BB962C8B-B14F-4D97-AF65-F5344CB8AC3E}">
        <p14:creationId xmlns:p14="http://schemas.microsoft.com/office/powerpoint/2010/main" val="2830985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1F3B5A"/>
          </a:solidFill>
          <a:ln w="12700">
            <a:solidFill>
              <a:srgbClr val="1F3B5A"/>
            </a:solidFill>
            <a:prstDash val="solid"/>
          </a:ln>
        </p:spPr>
        <p:txBody>
          <a:bodyPr/>
          <a:lstStyle/>
          <a:p>
            <a:endParaRPr/>
          </a:p>
        </p:txBody>
      </p:sp>
      <p:sp>
        <p:nvSpPr>
          <p:cNvPr id="3" name="Text 1"/>
          <p:cNvSpPr/>
          <p:nvPr/>
        </p:nvSpPr>
        <p:spPr>
          <a:xfrm>
            <a:off x="502920" y="164592"/>
            <a:ext cx="8138160" cy="402336"/>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Disadvantages / Limits</a:t>
            </a:r>
            <a:endParaRPr lang="en-US" sz="2200" dirty="0"/>
          </a:p>
        </p:txBody>
      </p:sp>
      <p:sp>
        <p:nvSpPr>
          <p:cNvPr id="4" name="Text 2"/>
          <p:cNvSpPr/>
          <p:nvPr/>
        </p:nvSpPr>
        <p:spPr>
          <a:xfrm>
            <a:off x="8732520" y="228600"/>
            <a:ext cx="2834640" cy="274320"/>
          </a:xfrm>
          <a:prstGeom prst="rect">
            <a:avLst/>
          </a:prstGeom>
          <a:noFill/>
          <a:ln/>
        </p:spPr>
        <p:txBody>
          <a:bodyPr wrap="square" lIns="0" tIns="0" rIns="0" bIns="0" rtlCol="0" anchor="ctr"/>
          <a:lstStyle/>
          <a:p>
            <a:pPr marL="0" indent="0" algn="r">
              <a:buNone/>
            </a:pPr>
            <a:r>
              <a:rPr lang="en-US" sz="1050" dirty="0">
                <a:solidFill>
                  <a:srgbClr val="D6E2EF"/>
                </a:solidFill>
              </a:rPr>
              <a:t>Cons</a:t>
            </a:r>
            <a:endParaRPr lang="en-US" sz="1050" dirty="0"/>
          </a:p>
        </p:txBody>
      </p:sp>
      <p:sp>
        <p:nvSpPr>
          <p:cNvPr id="5" name="Shape 3"/>
          <p:cNvSpPr/>
          <p:nvPr/>
        </p:nvSpPr>
        <p:spPr>
          <a:xfrm>
            <a:off x="502920" y="6355080"/>
            <a:ext cx="11155680" cy="0"/>
          </a:xfrm>
          <a:prstGeom prst="line">
            <a:avLst/>
          </a:prstGeom>
          <a:noFill/>
          <a:ln w="8890">
            <a:solidFill>
              <a:srgbClr val="CED8E2"/>
            </a:solidFill>
            <a:prstDash val="solid"/>
          </a:ln>
        </p:spPr>
        <p:txBody>
          <a:bodyPr/>
          <a:lstStyle/>
          <a:p>
            <a:endParaRPr/>
          </a:p>
        </p:txBody>
      </p:sp>
      <p:sp>
        <p:nvSpPr>
          <p:cNvPr id="6" name="Text 4"/>
          <p:cNvSpPr/>
          <p:nvPr/>
        </p:nvSpPr>
        <p:spPr>
          <a:xfrm>
            <a:off x="502920" y="6419088"/>
            <a:ext cx="5943600" cy="219456"/>
          </a:xfrm>
          <a:prstGeom prst="rect">
            <a:avLst/>
          </a:prstGeom>
          <a:noFill/>
          <a:ln/>
        </p:spPr>
        <p:txBody>
          <a:bodyPr wrap="square" lIns="0" tIns="0" rIns="0" bIns="0" rtlCol="0" anchor="ctr"/>
          <a:lstStyle/>
          <a:p>
            <a:pPr marL="0" indent="0">
              <a:buNone/>
            </a:pPr>
            <a:r>
              <a:rPr lang="en-US" sz="850" dirty="0">
                <a:solidFill>
                  <a:srgbClr val="526476"/>
                </a:solidFill>
              </a:rPr>
              <a:t>CYB120L 1.3 In-Class Activity • Hypervisors</a:t>
            </a:r>
            <a:endParaRPr lang="en-US" sz="850" dirty="0"/>
          </a:p>
        </p:txBody>
      </p:sp>
      <p:sp>
        <p:nvSpPr>
          <p:cNvPr id="7" name="Shape 5"/>
          <p:cNvSpPr/>
          <p:nvPr/>
        </p:nvSpPr>
        <p:spPr>
          <a:xfrm>
            <a:off x="777240" y="1143000"/>
            <a:ext cx="5212080" cy="1463040"/>
          </a:xfrm>
          <a:prstGeom prst="roundRect">
            <a:avLst>
              <a:gd name="adj" fmla="val 7500"/>
            </a:avLst>
          </a:prstGeom>
          <a:solidFill>
            <a:srgbClr val="F7F9FB"/>
          </a:solidFill>
          <a:ln w="12700">
            <a:solidFill>
              <a:srgbClr val="D8E1EA"/>
            </a:solidFill>
            <a:prstDash val="solid"/>
          </a:ln>
        </p:spPr>
        <p:txBody>
          <a:bodyPr/>
          <a:lstStyle/>
          <a:p>
            <a:endParaRPr/>
          </a:p>
        </p:txBody>
      </p:sp>
      <p:sp>
        <p:nvSpPr>
          <p:cNvPr id="8" name="Shape 6"/>
          <p:cNvSpPr/>
          <p:nvPr/>
        </p:nvSpPr>
        <p:spPr>
          <a:xfrm>
            <a:off x="777240" y="1143000"/>
            <a:ext cx="73152" cy="1463040"/>
          </a:xfrm>
          <a:prstGeom prst="rect">
            <a:avLst/>
          </a:prstGeom>
          <a:solidFill>
            <a:srgbClr val="D65A5A"/>
          </a:solidFill>
          <a:ln w="12700">
            <a:solidFill>
              <a:srgbClr val="D65A5A"/>
            </a:solidFill>
            <a:prstDash val="solid"/>
          </a:ln>
        </p:spPr>
        <p:txBody>
          <a:bodyPr/>
          <a:lstStyle/>
          <a:p>
            <a:endParaRPr/>
          </a:p>
        </p:txBody>
      </p:sp>
      <p:sp>
        <p:nvSpPr>
          <p:cNvPr id="9" name="Text 7"/>
          <p:cNvSpPr/>
          <p:nvPr/>
        </p:nvSpPr>
        <p:spPr>
          <a:xfrm>
            <a:off x="1014984" y="1307592"/>
            <a:ext cx="4791456" cy="320040"/>
          </a:xfrm>
          <a:prstGeom prst="rect">
            <a:avLst/>
          </a:prstGeom>
          <a:noFill/>
          <a:ln/>
        </p:spPr>
        <p:txBody>
          <a:bodyPr wrap="square" lIns="0" tIns="0" rIns="0" bIns="0" rtlCol="0" anchor="ctr"/>
          <a:lstStyle/>
          <a:p>
            <a:pPr marL="0" indent="0">
              <a:buNone/>
            </a:pPr>
            <a:r>
              <a:rPr lang="en-US" sz="1800" b="1" dirty="0">
                <a:solidFill>
                  <a:srgbClr val="18304A"/>
                </a:solidFill>
              </a:rPr>
              <a:t>Performance overhead</a:t>
            </a:r>
            <a:endParaRPr lang="en-US" sz="1800" dirty="0"/>
          </a:p>
        </p:txBody>
      </p:sp>
      <p:sp>
        <p:nvSpPr>
          <p:cNvPr id="10" name="Text 8"/>
          <p:cNvSpPr/>
          <p:nvPr/>
        </p:nvSpPr>
        <p:spPr>
          <a:xfrm>
            <a:off x="1014984" y="1801368"/>
            <a:ext cx="4791456" cy="640080"/>
          </a:xfrm>
          <a:prstGeom prst="rect">
            <a:avLst/>
          </a:prstGeom>
          <a:noFill/>
          <a:ln/>
        </p:spPr>
        <p:txBody>
          <a:bodyPr wrap="square" lIns="0" tIns="0" rIns="0" bIns="0" rtlCol="0" anchor="ctr">
            <a:normAutofit/>
          </a:bodyPr>
          <a:lstStyle/>
          <a:p>
            <a:r>
              <a:t>VMs share RAM and CPU with the host, so they can run slower.</a:t>
            </a:r>
          </a:p>
        </p:txBody>
      </p:sp>
      <p:sp>
        <p:nvSpPr>
          <p:cNvPr id="11" name="Shape 9"/>
          <p:cNvSpPr/>
          <p:nvPr/>
        </p:nvSpPr>
        <p:spPr>
          <a:xfrm>
            <a:off x="6217920" y="1143000"/>
            <a:ext cx="5212080" cy="1463040"/>
          </a:xfrm>
          <a:prstGeom prst="roundRect">
            <a:avLst>
              <a:gd name="adj" fmla="val 7500"/>
            </a:avLst>
          </a:prstGeom>
          <a:solidFill>
            <a:srgbClr val="F7F9FB"/>
          </a:solidFill>
          <a:ln w="12700">
            <a:solidFill>
              <a:srgbClr val="D8E1EA"/>
            </a:solidFill>
            <a:prstDash val="solid"/>
          </a:ln>
        </p:spPr>
        <p:txBody>
          <a:bodyPr/>
          <a:lstStyle/>
          <a:p>
            <a:endParaRPr/>
          </a:p>
        </p:txBody>
      </p:sp>
      <p:sp>
        <p:nvSpPr>
          <p:cNvPr id="12" name="Shape 10"/>
          <p:cNvSpPr/>
          <p:nvPr/>
        </p:nvSpPr>
        <p:spPr>
          <a:xfrm>
            <a:off x="6217920" y="1143000"/>
            <a:ext cx="73152" cy="1463040"/>
          </a:xfrm>
          <a:prstGeom prst="rect">
            <a:avLst/>
          </a:prstGeom>
          <a:solidFill>
            <a:srgbClr val="D65A5A"/>
          </a:solidFill>
          <a:ln w="12700">
            <a:solidFill>
              <a:srgbClr val="D65A5A"/>
            </a:solidFill>
            <a:prstDash val="solid"/>
          </a:ln>
        </p:spPr>
        <p:txBody>
          <a:bodyPr/>
          <a:lstStyle/>
          <a:p>
            <a:endParaRPr/>
          </a:p>
        </p:txBody>
      </p:sp>
      <p:sp>
        <p:nvSpPr>
          <p:cNvPr id="13" name="Text 11"/>
          <p:cNvSpPr/>
          <p:nvPr/>
        </p:nvSpPr>
        <p:spPr>
          <a:xfrm>
            <a:off x="6455664" y="1307592"/>
            <a:ext cx="4791456" cy="320040"/>
          </a:xfrm>
          <a:prstGeom prst="rect">
            <a:avLst/>
          </a:prstGeom>
          <a:noFill/>
          <a:ln/>
        </p:spPr>
        <p:txBody>
          <a:bodyPr wrap="square" lIns="0" tIns="0" rIns="0" bIns="0" rtlCol="0" anchor="ctr"/>
          <a:lstStyle/>
          <a:p>
            <a:pPr marL="0" indent="0">
              <a:buNone/>
            </a:pPr>
            <a:r>
              <a:rPr lang="en-US" sz="1800" b="1" dirty="0">
                <a:solidFill>
                  <a:srgbClr val="18304A"/>
                </a:solidFill>
              </a:rPr>
              <a:t>Not best for production servers</a:t>
            </a:r>
            <a:endParaRPr lang="en-US" sz="1800" dirty="0"/>
          </a:p>
        </p:txBody>
      </p:sp>
      <p:sp>
        <p:nvSpPr>
          <p:cNvPr id="14" name="Text 12"/>
          <p:cNvSpPr/>
          <p:nvPr/>
        </p:nvSpPr>
        <p:spPr>
          <a:xfrm>
            <a:off x="6455664" y="1801368"/>
            <a:ext cx="4791456" cy="640080"/>
          </a:xfrm>
          <a:prstGeom prst="rect">
            <a:avLst/>
          </a:prstGeom>
          <a:noFill/>
          <a:ln/>
        </p:spPr>
        <p:txBody>
          <a:bodyPr wrap="square" lIns="0" tIns="0" rIns="0" bIns="0" rtlCol="0" anchor="ctr">
            <a:normAutofit/>
          </a:bodyPr>
          <a:lstStyle/>
          <a:p>
            <a:r>
              <a:t>Better for labs and testing than large business servers.</a:t>
            </a:r>
          </a:p>
        </p:txBody>
      </p:sp>
      <p:sp>
        <p:nvSpPr>
          <p:cNvPr id="15" name="Shape 13"/>
          <p:cNvSpPr/>
          <p:nvPr/>
        </p:nvSpPr>
        <p:spPr>
          <a:xfrm>
            <a:off x="777240" y="2971800"/>
            <a:ext cx="5212080" cy="1463040"/>
          </a:xfrm>
          <a:prstGeom prst="roundRect">
            <a:avLst>
              <a:gd name="adj" fmla="val 7500"/>
            </a:avLst>
          </a:prstGeom>
          <a:solidFill>
            <a:srgbClr val="F7F9FB"/>
          </a:solidFill>
          <a:ln w="12700">
            <a:solidFill>
              <a:srgbClr val="D8E1EA"/>
            </a:solidFill>
            <a:prstDash val="solid"/>
          </a:ln>
        </p:spPr>
        <p:txBody>
          <a:bodyPr/>
          <a:lstStyle/>
          <a:p>
            <a:endParaRPr/>
          </a:p>
        </p:txBody>
      </p:sp>
      <p:sp>
        <p:nvSpPr>
          <p:cNvPr id="16" name="Shape 14"/>
          <p:cNvSpPr/>
          <p:nvPr/>
        </p:nvSpPr>
        <p:spPr>
          <a:xfrm>
            <a:off x="777240" y="2971800"/>
            <a:ext cx="73152" cy="1463040"/>
          </a:xfrm>
          <a:prstGeom prst="rect">
            <a:avLst/>
          </a:prstGeom>
          <a:solidFill>
            <a:srgbClr val="F4A259"/>
          </a:solidFill>
          <a:ln w="12700">
            <a:solidFill>
              <a:srgbClr val="F4A259"/>
            </a:solidFill>
            <a:prstDash val="solid"/>
          </a:ln>
        </p:spPr>
        <p:txBody>
          <a:bodyPr/>
          <a:lstStyle/>
          <a:p>
            <a:endParaRPr/>
          </a:p>
        </p:txBody>
      </p:sp>
      <p:sp>
        <p:nvSpPr>
          <p:cNvPr id="17" name="Text 15"/>
          <p:cNvSpPr/>
          <p:nvPr/>
        </p:nvSpPr>
        <p:spPr>
          <a:xfrm>
            <a:off x="1014984" y="3136392"/>
            <a:ext cx="4791456" cy="320040"/>
          </a:xfrm>
          <a:prstGeom prst="rect">
            <a:avLst/>
          </a:prstGeom>
          <a:noFill/>
          <a:ln/>
        </p:spPr>
        <p:txBody>
          <a:bodyPr wrap="square" lIns="0" tIns="0" rIns="0" bIns="0" rtlCol="0" anchor="ctr"/>
          <a:lstStyle/>
          <a:p>
            <a:pPr marL="0" indent="0">
              <a:buNone/>
            </a:pPr>
            <a:r>
              <a:rPr lang="en-US" sz="1800" b="1" dirty="0">
                <a:solidFill>
                  <a:srgbClr val="18304A"/>
                </a:solidFill>
              </a:rPr>
              <a:t>Needs enough hardware</a:t>
            </a:r>
            <a:endParaRPr lang="en-US" sz="1800" dirty="0"/>
          </a:p>
        </p:txBody>
      </p:sp>
      <p:sp>
        <p:nvSpPr>
          <p:cNvPr id="18" name="Text 16"/>
          <p:cNvSpPr/>
          <p:nvPr/>
        </p:nvSpPr>
        <p:spPr>
          <a:xfrm>
            <a:off x="1014984" y="3630168"/>
            <a:ext cx="4791456" cy="640080"/>
          </a:xfrm>
          <a:prstGeom prst="rect">
            <a:avLst/>
          </a:prstGeom>
          <a:noFill/>
          <a:ln/>
        </p:spPr>
        <p:txBody>
          <a:bodyPr wrap="square" lIns="0" tIns="0" rIns="0" bIns="0" rtlCol="0" anchor="ctr">
            <a:normAutofit/>
          </a:bodyPr>
          <a:lstStyle/>
          <a:p>
            <a:r>
              <a:t>Several VMs can use a lot of RAM, CPU, and storage.</a:t>
            </a:r>
          </a:p>
        </p:txBody>
      </p:sp>
      <p:sp>
        <p:nvSpPr>
          <p:cNvPr id="19" name="Shape 17"/>
          <p:cNvSpPr/>
          <p:nvPr/>
        </p:nvSpPr>
        <p:spPr>
          <a:xfrm>
            <a:off x="6217920" y="2971800"/>
            <a:ext cx="5212080" cy="1463040"/>
          </a:xfrm>
          <a:prstGeom prst="roundRect">
            <a:avLst>
              <a:gd name="adj" fmla="val 7500"/>
            </a:avLst>
          </a:prstGeom>
          <a:solidFill>
            <a:srgbClr val="F7F9FB"/>
          </a:solidFill>
          <a:ln w="12700">
            <a:solidFill>
              <a:srgbClr val="D8E1EA"/>
            </a:solidFill>
            <a:prstDash val="solid"/>
          </a:ln>
        </p:spPr>
        <p:txBody>
          <a:bodyPr/>
          <a:lstStyle/>
          <a:p>
            <a:endParaRPr/>
          </a:p>
        </p:txBody>
      </p:sp>
      <p:sp>
        <p:nvSpPr>
          <p:cNvPr id="20" name="Shape 18"/>
          <p:cNvSpPr/>
          <p:nvPr/>
        </p:nvSpPr>
        <p:spPr>
          <a:xfrm>
            <a:off x="6217920" y="2971800"/>
            <a:ext cx="73152" cy="1463040"/>
          </a:xfrm>
          <a:prstGeom prst="rect">
            <a:avLst/>
          </a:prstGeom>
          <a:solidFill>
            <a:srgbClr val="F4A259"/>
          </a:solidFill>
          <a:ln w="12700">
            <a:solidFill>
              <a:srgbClr val="F4A259"/>
            </a:solidFill>
            <a:prstDash val="solid"/>
          </a:ln>
        </p:spPr>
        <p:txBody>
          <a:bodyPr/>
          <a:lstStyle/>
          <a:p>
            <a:endParaRPr/>
          </a:p>
        </p:txBody>
      </p:sp>
      <p:sp>
        <p:nvSpPr>
          <p:cNvPr id="21" name="Text 19"/>
          <p:cNvSpPr/>
          <p:nvPr/>
        </p:nvSpPr>
        <p:spPr>
          <a:xfrm>
            <a:off x="6455664" y="3136392"/>
            <a:ext cx="4791456" cy="320040"/>
          </a:xfrm>
          <a:prstGeom prst="rect">
            <a:avLst/>
          </a:prstGeom>
          <a:noFill/>
          <a:ln/>
        </p:spPr>
        <p:txBody>
          <a:bodyPr wrap="square" lIns="0" tIns="0" rIns="0" bIns="0" rtlCol="0" anchor="ctr"/>
          <a:lstStyle/>
          <a:p>
            <a:pPr marL="0" indent="0">
              <a:buNone/>
            </a:pPr>
            <a:r>
              <a:rPr lang="en-US" sz="1800" b="1" dirty="0">
                <a:solidFill>
                  <a:srgbClr val="18304A"/>
                </a:solidFill>
              </a:rPr>
              <a:t>Setup can still be confusing</a:t>
            </a:r>
            <a:endParaRPr lang="en-US" sz="1800" dirty="0"/>
          </a:p>
        </p:txBody>
      </p:sp>
      <p:sp>
        <p:nvSpPr>
          <p:cNvPr id="22" name="Text 20"/>
          <p:cNvSpPr/>
          <p:nvPr/>
        </p:nvSpPr>
        <p:spPr>
          <a:xfrm>
            <a:off x="6455664" y="3630168"/>
            <a:ext cx="4791456" cy="640080"/>
          </a:xfrm>
          <a:prstGeom prst="rect">
            <a:avLst/>
          </a:prstGeom>
          <a:noFill/>
          <a:ln/>
        </p:spPr>
        <p:txBody>
          <a:bodyPr wrap="square" lIns="0" tIns="0" rIns="0" bIns="0" rtlCol="0" anchor="ctr">
            <a:normAutofit/>
          </a:bodyPr>
          <a:lstStyle/>
          <a:p>
            <a:r>
              <a:t>Networking and shared folders may take extra setup.</a:t>
            </a:r>
          </a:p>
        </p:txBody>
      </p:sp>
      <p:sp>
        <p:nvSpPr>
          <p:cNvPr id="23" name="Text 21"/>
          <p:cNvSpPr/>
          <p:nvPr/>
        </p:nvSpPr>
        <p:spPr>
          <a:xfrm>
            <a:off x="914400" y="5166360"/>
            <a:ext cx="10332720" cy="475488"/>
          </a:xfrm>
          <a:prstGeom prst="rect">
            <a:avLst/>
          </a:prstGeom>
          <a:noFill/>
          <a:ln/>
        </p:spPr>
        <p:txBody>
          <a:bodyPr wrap="square" lIns="0" tIns="0" rIns="0" bIns="0" rtlCol="0" anchor="ctr">
            <a:normAutofit/>
          </a:bodyPr>
          <a:lstStyle/>
          <a:p>
            <a:r>
              <a:t>Bottom line: great for learning, but not the strongest choice for high-performance enterprise work.</a:t>
            </a:r>
          </a:p>
        </p:txBody>
      </p:sp>
    </p:spTree>
    <p:extLst>
      <p:ext uri="{BB962C8B-B14F-4D97-AF65-F5344CB8AC3E}">
        <p14:creationId xmlns:p14="http://schemas.microsoft.com/office/powerpoint/2010/main" val="4012492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1F3B5A"/>
          </a:solidFill>
          <a:ln w="12700">
            <a:solidFill>
              <a:srgbClr val="1F3B5A"/>
            </a:solidFill>
            <a:prstDash val="solid"/>
          </a:ln>
        </p:spPr>
        <p:txBody>
          <a:bodyPr/>
          <a:lstStyle/>
          <a:p>
            <a:endParaRPr/>
          </a:p>
        </p:txBody>
      </p:sp>
      <p:sp>
        <p:nvSpPr>
          <p:cNvPr id="3" name="Text 1"/>
          <p:cNvSpPr/>
          <p:nvPr/>
        </p:nvSpPr>
        <p:spPr>
          <a:xfrm>
            <a:off x="502920" y="164592"/>
            <a:ext cx="8138160" cy="402336"/>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Unique Features / Functionality</a:t>
            </a:r>
            <a:endParaRPr lang="en-US" sz="2200" dirty="0"/>
          </a:p>
        </p:txBody>
      </p:sp>
      <p:sp>
        <p:nvSpPr>
          <p:cNvPr id="4" name="Text 2"/>
          <p:cNvSpPr/>
          <p:nvPr/>
        </p:nvSpPr>
        <p:spPr>
          <a:xfrm>
            <a:off x="8732520" y="228600"/>
            <a:ext cx="2834640" cy="274320"/>
          </a:xfrm>
          <a:prstGeom prst="rect">
            <a:avLst/>
          </a:prstGeom>
          <a:noFill/>
          <a:ln/>
        </p:spPr>
        <p:txBody>
          <a:bodyPr wrap="square" lIns="0" tIns="0" rIns="0" bIns="0" rtlCol="0" anchor="ctr"/>
          <a:lstStyle/>
          <a:p>
            <a:pPr marL="0" indent="0" algn="r">
              <a:buNone/>
            </a:pPr>
            <a:r>
              <a:rPr lang="en-US" sz="1050" dirty="0">
                <a:solidFill>
                  <a:srgbClr val="D6E2EF"/>
                </a:solidFill>
              </a:rPr>
              <a:t>What stands out</a:t>
            </a:r>
            <a:endParaRPr lang="en-US" sz="1050" dirty="0"/>
          </a:p>
        </p:txBody>
      </p:sp>
      <p:sp>
        <p:nvSpPr>
          <p:cNvPr id="5" name="Shape 3"/>
          <p:cNvSpPr/>
          <p:nvPr/>
        </p:nvSpPr>
        <p:spPr>
          <a:xfrm>
            <a:off x="502920" y="6355080"/>
            <a:ext cx="11155680" cy="0"/>
          </a:xfrm>
          <a:prstGeom prst="line">
            <a:avLst/>
          </a:prstGeom>
          <a:noFill/>
          <a:ln w="8890">
            <a:solidFill>
              <a:srgbClr val="CED8E2"/>
            </a:solidFill>
            <a:prstDash val="solid"/>
          </a:ln>
        </p:spPr>
        <p:txBody>
          <a:bodyPr/>
          <a:lstStyle/>
          <a:p>
            <a:endParaRPr/>
          </a:p>
        </p:txBody>
      </p:sp>
      <p:sp>
        <p:nvSpPr>
          <p:cNvPr id="6" name="Text 4"/>
          <p:cNvSpPr/>
          <p:nvPr/>
        </p:nvSpPr>
        <p:spPr>
          <a:xfrm>
            <a:off x="502920" y="6419088"/>
            <a:ext cx="5943600" cy="219456"/>
          </a:xfrm>
          <a:prstGeom prst="rect">
            <a:avLst/>
          </a:prstGeom>
          <a:noFill/>
          <a:ln/>
        </p:spPr>
        <p:txBody>
          <a:bodyPr wrap="square" lIns="0" tIns="0" rIns="0" bIns="0" rtlCol="0" anchor="ctr"/>
          <a:lstStyle/>
          <a:p>
            <a:pPr marL="0" indent="0">
              <a:buNone/>
            </a:pPr>
            <a:r>
              <a:rPr lang="en-US" sz="850" dirty="0">
                <a:solidFill>
                  <a:srgbClr val="526476"/>
                </a:solidFill>
              </a:rPr>
              <a:t>CYB120L 1.3 In-Class Activity • Hypervisors</a:t>
            </a:r>
            <a:endParaRPr lang="en-US" sz="850" dirty="0"/>
          </a:p>
        </p:txBody>
      </p:sp>
      <p:sp>
        <p:nvSpPr>
          <p:cNvPr id="7" name="Text 5"/>
          <p:cNvSpPr/>
          <p:nvPr/>
        </p:nvSpPr>
        <p:spPr>
          <a:xfrm>
            <a:off x="777240" y="1024128"/>
            <a:ext cx="5943600" cy="347472"/>
          </a:xfrm>
          <a:prstGeom prst="rect">
            <a:avLst/>
          </a:prstGeom>
          <a:noFill/>
          <a:ln/>
        </p:spPr>
        <p:txBody>
          <a:bodyPr wrap="square" lIns="0" tIns="0" rIns="0" bIns="0" rtlCol="0" anchor="ctr"/>
          <a:lstStyle/>
          <a:p>
            <a:r>
              <a:t>Features that help with labs:</a:t>
            </a:r>
          </a:p>
        </p:txBody>
      </p:sp>
      <p:sp>
        <p:nvSpPr>
          <p:cNvPr id="8" name="Shape 6"/>
          <p:cNvSpPr/>
          <p:nvPr/>
        </p:nvSpPr>
        <p:spPr>
          <a:xfrm>
            <a:off x="868680" y="1655064"/>
            <a:ext cx="201168" cy="201168"/>
          </a:xfrm>
          <a:prstGeom prst="ellipse">
            <a:avLst/>
          </a:prstGeom>
          <a:solidFill>
            <a:srgbClr val="2E6F9E"/>
          </a:solidFill>
          <a:ln w="12700">
            <a:solidFill>
              <a:srgbClr val="2E6F9E"/>
            </a:solidFill>
            <a:prstDash val="solid"/>
          </a:ln>
        </p:spPr>
        <p:txBody>
          <a:bodyPr/>
          <a:lstStyle/>
          <a:p>
            <a:endParaRPr/>
          </a:p>
        </p:txBody>
      </p:sp>
      <p:sp>
        <p:nvSpPr>
          <p:cNvPr id="9" name="Text 7"/>
          <p:cNvSpPr/>
          <p:nvPr/>
        </p:nvSpPr>
        <p:spPr>
          <a:xfrm>
            <a:off x="1234440" y="1600200"/>
            <a:ext cx="6309360" cy="310896"/>
          </a:xfrm>
          <a:prstGeom prst="rect">
            <a:avLst/>
          </a:prstGeom>
          <a:noFill/>
          <a:ln/>
        </p:spPr>
        <p:txBody>
          <a:bodyPr wrap="square" lIns="0" tIns="0" rIns="0" bIns="0" rtlCol="0" anchor="ctr">
            <a:normAutofit/>
          </a:bodyPr>
          <a:lstStyle/>
          <a:p>
            <a:r>
              <a:t>Snapshots: save a VM before making changes.</a:t>
            </a:r>
          </a:p>
        </p:txBody>
      </p:sp>
      <p:sp>
        <p:nvSpPr>
          <p:cNvPr id="10" name="Shape 8"/>
          <p:cNvSpPr/>
          <p:nvPr/>
        </p:nvSpPr>
        <p:spPr>
          <a:xfrm>
            <a:off x="868680" y="2313432"/>
            <a:ext cx="201168" cy="201168"/>
          </a:xfrm>
          <a:prstGeom prst="ellipse">
            <a:avLst/>
          </a:prstGeom>
          <a:solidFill>
            <a:srgbClr val="5AA469"/>
          </a:solidFill>
          <a:ln w="12700">
            <a:solidFill>
              <a:srgbClr val="5AA469"/>
            </a:solidFill>
            <a:prstDash val="solid"/>
          </a:ln>
        </p:spPr>
        <p:txBody>
          <a:bodyPr/>
          <a:lstStyle/>
          <a:p>
            <a:endParaRPr/>
          </a:p>
        </p:txBody>
      </p:sp>
      <p:sp>
        <p:nvSpPr>
          <p:cNvPr id="11" name="Text 9"/>
          <p:cNvSpPr/>
          <p:nvPr/>
        </p:nvSpPr>
        <p:spPr>
          <a:xfrm>
            <a:off x="1234440" y="2258568"/>
            <a:ext cx="6309360" cy="310896"/>
          </a:xfrm>
          <a:prstGeom prst="rect">
            <a:avLst/>
          </a:prstGeom>
          <a:noFill/>
          <a:ln/>
        </p:spPr>
        <p:txBody>
          <a:bodyPr wrap="square" lIns="0" tIns="0" rIns="0" bIns="0" rtlCol="0" anchor="ctr">
            <a:normAutofit/>
          </a:bodyPr>
          <a:lstStyle/>
          <a:p>
            <a:r>
              <a:t>Shared folders: move files between host and VM.</a:t>
            </a:r>
          </a:p>
        </p:txBody>
      </p:sp>
      <p:sp>
        <p:nvSpPr>
          <p:cNvPr id="12" name="Shape 10"/>
          <p:cNvSpPr/>
          <p:nvPr/>
        </p:nvSpPr>
        <p:spPr>
          <a:xfrm>
            <a:off x="868680" y="2971800"/>
            <a:ext cx="201168" cy="201168"/>
          </a:xfrm>
          <a:prstGeom prst="ellipse">
            <a:avLst/>
          </a:prstGeom>
          <a:solidFill>
            <a:srgbClr val="F4A259"/>
          </a:solidFill>
          <a:ln w="12700">
            <a:solidFill>
              <a:srgbClr val="F4A259"/>
            </a:solidFill>
            <a:prstDash val="solid"/>
          </a:ln>
        </p:spPr>
        <p:txBody>
          <a:bodyPr/>
          <a:lstStyle/>
          <a:p>
            <a:endParaRPr/>
          </a:p>
        </p:txBody>
      </p:sp>
      <p:sp>
        <p:nvSpPr>
          <p:cNvPr id="13" name="Text 11"/>
          <p:cNvSpPr/>
          <p:nvPr/>
        </p:nvSpPr>
        <p:spPr>
          <a:xfrm>
            <a:off x="1234440" y="2916936"/>
            <a:ext cx="6309360" cy="310896"/>
          </a:xfrm>
          <a:prstGeom prst="rect">
            <a:avLst/>
          </a:prstGeom>
          <a:noFill/>
          <a:ln/>
        </p:spPr>
        <p:txBody>
          <a:bodyPr wrap="square" lIns="0" tIns="0" rIns="0" bIns="0" rtlCol="0" anchor="ctr">
            <a:normAutofit/>
          </a:bodyPr>
          <a:lstStyle/>
          <a:p>
            <a:r>
              <a:t>Shared clipboard: copy and paste between systems.</a:t>
            </a:r>
          </a:p>
        </p:txBody>
      </p:sp>
      <p:sp>
        <p:nvSpPr>
          <p:cNvPr id="14" name="Shape 12"/>
          <p:cNvSpPr/>
          <p:nvPr/>
        </p:nvSpPr>
        <p:spPr>
          <a:xfrm>
            <a:off x="868680" y="3630168"/>
            <a:ext cx="201168" cy="201168"/>
          </a:xfrm>
          <a:prstGeom prst="ellipse">
            <a:avLst/>
          </a:prstGeom>
          <a:solidFill>
            <a:srgbClr val="2E6F9E"/>
          </a:solidFill>
          <a:ln w="12700">
            <a:solidFill>
              <a:srgbClr val="2E6F9E"/>
            </a:solidFill>
            <a:prstDash val="solid"/>
          </a:ln>
        </p:spPr>
        <p:txBody>
          <a:bodyPr/>
          <a:lstStyle/>
          <a:p>
            <a:endParaRPr/>
          </a:p>
        </p:txBody>
      </p:sp>
      <p:sp>
        <p:nvSpPr>
          <p:cNvPr id="15" name="Text 13"/>
          <p:cNvSpPr/>
          <p:nvPr/>
        </p:nvSpPr>
        <p:spPr>
          <a:xfrm>
            <a:off x="1234440" y="3575304"/>
            <a:ext cx="6309360" cy="310896"/>
          </a:xfrm>
          <a:prstGeom prst="rect">
            <a:avLst/>
          </a:prstGeom>
          <a:noFill/>
          <a:ln/>
        </p:spPr>
        <p:txBody>
          <a:bodyPr wrap="square" lIns="0" tIns="0" rIns="0" bIns="0" rtlCol="0" anchor="ctr">
            <a:normAutofit/>
          </a:bodyPr>
          <a:lstStyle/>
          <a:p>
            <a:r>
              <a:t>Virtual networking: practice NAT, bridged, and host-only setups.</a:t>
            </a:r>
          </a:p>
        </p:txBody>
      </p:sp>
      <p:sp>
        <p:nvSpPr>
          <p:cNvPr id="16" name="Shape 14"/>
          <p:cNvSpPr/>
          <p:nvPr/>
        </p:nvSpPr>
        <p:spPr>
          <a:xfrm>
            <a:off x="868680" y="4288536"/>
            <a:ext cx="201168" cy="201168"/>
          </a:xfrm>
          <a:prstGeom prst="ellipse">
            <a:avLst/>
          </a:prstGeom>
          <a:solidFill>
            <a:srgbClr val="5AA469"/>
          </a:solidFill>
          <a:ln w="12700">
            <a:solidFill>
              <a:srgbClr val="5AA469"/>
            </a:solidFill>
            <a:prstDash val="solid"/>
          </a:ln>
        </p:spPr>
        <p:txBody>
          <a:bodyPr/>
          <a:lstStyle/>
          <a:p>
            <a:endParaRPr/>
          </a:p>
        </p:txBody>
      </p:sp>
      <p:sp>
        <p:nvSpPr>
          <p:cNvPr id="17" name="Text 15"/>
          <p:cNvSpPr/>
          <p:nvPr/>
        </p:nvSpPr>
        <p:spPr>
          <a:xfrm>
            <a:off x="1234440" y="4233672"/>
            <a:ext cx="6309360" cy="310896"/>
          </a:xfrm>
          <a:prstGeom prst="rect">
            <a:avLst/>
          </a:prstGeom>
          <a:noFill/>
          <a:ln/>
        </p:spPr>
        <p:txBody>
          <a:bodyPr wrap="square" lIns="0" tIns="0" rIns="0" bIns="0" rtlCol="0" anchor="ctr">
            <a:normAutofit/>
          </a:bodyPr>
          <a:lstStyle/>
          <a:p>
            <a:r>
              <a:t>Guest Additions: better display and mouse control.</a:t>
            </a:r>
          </a:p>
        </p:txBody>
      </p:sp>
      <p:sp>
        <p:nvSpPr>
          <p:cNvPr id="18" name="Shape 16"/>
          <p:cNvSpPr/>
          <p:nvPr/>
        </p:nvSpPr>
        <p:spPr>
          <a:xfrm>
            <a:off x="7955280" y="1234440"/>
            <a:ext cx="3337560" cy="4114800"/>
          </a:xfrm>
          <a:prstGeom prst="roundRect">
            <a:avLst>
              <a:gd name="adj" fmla="val 4384"/>
            </a:avLst>
          </a:prstGeom>
          <a:solidFill>
            <a:srgbClr val="1F3B5A"/>
          </a:solidFill>
          <a:ln w="12700">
            <a:solidFill>
              <a:srgbClr val="1F3B5A"/>
            </a:solidFill>
            <a:prstDash val="solid"/>
          </a:ln>
        </p:spPr>
        <p:txBody>
          <a:bodyPr/>
          <a:lstStyle/>
          <a:p>
            <a:endParaRPr/>
          </a:p>
        </p:txBody>
      </p:sp>
      <p:sp>
        <p:nvSpPr>
          <p:cNvPr id="19" name="Text 17"/>
          <p:cNvSpPr/>
          <p:nvPr/>
        </p:nvSpPr>
        <p:spPr>
          <a:xfrm>
            <a:off x="8275320" y="1645920"/>
            <a:ext cx="2697480" cy="365760"/>
          </a:xfrm>
          <a:prstGeom prst="rect">
            <a:avLst/>
          </a:prstGeom>
          <a:noFill/>
          <a:ln/>
        </p:spPr>
        <p:txBody>
          <a:bodyPr wrap="square" lIns="0" tIns="0" rIns="0" bIns="0" rtlCol="0" anchor="ctr"/>
          <a:lstStyle/>
          <a:p>
            <a:pPr marL="0" indent="0" algn="ctr">
              <a:buNone/>
            </a:pPr>
            <a:r>
              <a:rPr lang="en-US" sz="2000" b="1" dirty="0">
                <a:solidFill>
                  <a:srgbClr val="FFFFFF"/>
                </a:solidFill>
              </a:rPr>
              <a:t>Why this helps in cyber labs</a:t>
            </a:r>
            <a:endParaRPr lang="en-US" sz="2000" dirty="0"/>
          </a:p>
        </p:txBody>
      </p:sp>
      <p:sp>
        <p:nvSpPr>
          <p:cNvPr id="20" name="Text 18"/>
          <p:cNvSpPr/>
          <p:nvPr/>
        </p:nvSpPr>
        <p:spPr>
          <a:xfrm>
            <a:off x="8275320" y="2423160"/>
            <a:ext cx="2697480" cy="1737360"/>
          </a:xfrm>
          <a:prstGeom prst="rect">
            <a:avLst/>
          </a:prstGeom>
          <a:noFill/>
          <a:ln/>
        </p:spPr>
        <p:txBody>
          <a:bodyPr wrap="square" lIns="635" tIns="635" rIns="635" bIns="635" rtlCol="0" anchor="ctr">
            <a:normAutofit/>
          </a:bodyPr>
          <a:lstStyle/>
          <a:p>
            <a:r>
              <a:t>We can test changes, break things safely, and restore the VM instead of starting over.</a:t>
            </a:r>
          </a:p>
        </p:txBody>
      </p:sp>
      <p:sp>
        <p:nvSpPr>
          <p:cNvPr id="21" name="Text 19"/>
          <p:cNvSpPr/>
          <p:nvPr/>
        </p:nvSpPr>
        <p:spPr>
          <a:xfrm>
            <a:off x="8229600" y="4681728"/>
            <a:ext cx="2788920" cy="347472"/>
          </a:xfrm>
          <a:prstGeom prst="rect">
            <a:avLst/>
          </a:prstGeom>
          <a:noFill/>
          <a:ln/>
        </p:spPr>
        <p:txBody>
          <a:bodyPr wrap="square" lIns="0" tIns="0" rIns="0" bIns="0" rtlCol="0" anchor="ctr"/>
          <a:lstStyle/>
          <a:p>
            <a:r>
              <a:t>That makes it useful for student labs.</a:t>
            </a:r>
          </a:p>
        </p:txBody>
      </p:sp>
    </p:spTree>
    <p:extLst>
      <p:ext uri="{BB962C8B-B14F-4D97-AF65-F5344CB8AC3E}">
        <p14:creationId xmlns:p14="http://schemas.microsoft.com/office/powerpoint/2010/main" val="3689959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1F3B5A"/>
          </a:solidFill>
          <a:ln w="12700">
            <a:solidFill>
              <a:srgbClr val="1F3B5A"/>
            </a:solidFill>
            <a:prstDash val="solid"/>
          </a:ln>
        </p:spPr>
        <p:txBody>
          <a:bodyPr/>
          <a:lstStyle/>
          <a:p>
            <a:endParaRPr/>
          </a:p>
        </p:txBody>
      </p:sp>
      <p:sp>
        <p:nvSpPr>
          <p:cNvPr id="3" name="Text 1"/>
          <p:cNvSpPr/>
          <p:nvPr/>
        </p:nvSpPr>
        <p:spPr>
          <a:xfrm>
            <a:off x="502920" y="164592"/>
            <a:ext cx="8138160" cy="402336"/>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Best Use Cases</a:t>
            </a:r>
            <a:endParaRPr lang="en-US" sz="2200" dirty="0"/>
          </a:p>
        </p:txBody>
      </p:sp>
      <p:sp>
        <p:nvSpPr>
          <p:cNvPr id="4" name="Text 2"/>
          <p:cNvSpPr/>
          <p:nvPr/>
        </p:nvSpPr>
        <p:spPr>
          <a:xfrm>
            <a:off x="8732520" y="228600"/>
            <a:ext cx="2834640" cy="274320"/>
          </a:xfrm>
          <a:prstGeom prst="rect">
            <a:avLst/>
          </a:prstGeom>
          <a:noFill/>
          <a:ln/>
        </p:spPr>
        <p:txBody>
          <a:bodyPr wrap="square" lIns="0" tIns="0" rIns="0" bIns="0" rtlCol="0" anchor="ctr"/>
          <a:lstStyle/>
          <a:p>
            <a:pPr marL="0" indent="0" algn="r">
              <a:buNone/>
            </a:pPr>
            <a:r>
              <a:rPr lang="en-US" sz="1050" dirty="0">
                <a:solidFill>
                  <a:srgbClr val="D6E2EF"/>
                </a:solidFill>
              </a:rPr>
              <a:t>When to choose it</a:t>
            </a:r>
            <a:endParaRPr lang="en-US" sz="1050" dirty="0"/>
          </a:p>
        </p:txBody>
      </p:sp>
      <p:sp>
        <p:nvSpPr>
          <p:cNvPr id="5" name="Shape 3"/>
          <p:cNvSpPr/>
          <p:nvPr/>
        </p:nvSpPr>
        <p:spPr>
          <a:xfrm>
            <a:off x="502920" y="6355080"/>
            <a:ext cx="11155680" cy="0"/>
          </a:xfrm>
          <a:prstGeom prst="line">
            <a:avLst/>
          </a:prstGeom>
          <a:noFill/>
          <a:ln w="8890">
            <a:solidFill>
              <a:srgbClr val="CED8E2"/>
            </a:solidFill>
            <a:prstDash val="solid"/>
          </a:ln>
        </p:spPr>
        <p:txBody>
          <a:bodyPr/>
          <a:lstStyle/>
          <a:p>
            <a:endParaRPr/>
          </a:p>
        </p:txBody>
      </p:sp>
      <p:sp>
        <p:nvSpPr>
          <p:cNvPr id="6" name="Text 4"/>
          <p:cNvSpPr/>
          <p:nvPr/>
        </p:nvSpPr>
        <p:spPr>
          <a:xfrm>
            <a:off x="502920" y="6419088"/>
            <a:ext cx="5943600" cy="219456"/>
          </a:xfrm>
          <a:prstGeom prst="rect">
            <a:avLst/>
          </a:prstGeom>
          <a:noFill/>
          <a:ln/>
        </p:spPr>
        <p:txBody>
          <a:bodyPr wrap="square" lIns="0" tIns="0" rIns="0" bIns="0" rtlCol="0" anchor="ctr"/>
          <a:lstStyle/>
          <a:p>
            <a:pPr marL="0" indent="0">
              <a:buNone/>
            </a:pPr>
            <a:r>
              <a:rPr lang="en-US" sz="850" dirty="0">
                <a:solidFill>
                  <a:srgbClr val="526476"/>
                </a:solidFill>
              </a:rPr>
              <a:t>CYB120L 1.3 In-Class Activity • Hypervisors</a:t>
            </a:r>
            <a:endParaRPr lang="en-US" sz="850" dirty="0"/>
          </a:p>
        </p:txBody>
      </p:sp>
      <p:sp>
        <p:nvSpPr>
          <p:cNvPr id="7" name="Text 5"/>
          <p:cNvSpPr/>
          <p:nvPr/>
        </p:nvSpPr>
        <p:spPr>
          <a:xfrm>
            <a:off x="777240" y="1051560"/>
            <a:ext cx="10607040" cy="411480"/>
          </a:xfrm>
          <a:prstGeom prst="rect">
            <a:avLst/>
          </a:prstGeom>
          <a:noFill/>
          <a:ln/>
        </p:spPr>
        <p:txBody>
          <a:bodyPr wrap="square" lIns="0" tIns="0" rIns="0" bIns="0" rtlCol="0" anchor="ctr"/>
          <a:lstStyle/>
          <a:p>
            <a:r>
              <a:t>VirtualBox is best for learning, testing, and safe practice.</a:t>
            </a:r>
          </a:p>
        </p:txBody>
      </p:sp>
      <p:sp>
        <p:nvSpPr>
          <p:cNvPr id="8" name="Shape 6"/>
          <p:cNvSpPr/>
          <p:nvPr/>
        </p:nvSpPr>
        <p:spPr>
          <a:xfrm>
            <a:off x="868680" y="1874520"/>
            <a:ext cx="3246120" cy="2103120"/>
          </a:xfrm>
          <a:prstGeom prst="roundRect">
            <a:avLst>
              <a:gd name="adj" fmla="val 5217"/>
            </a:avLst>
          </a:prstGeom>
          <a:solidFill>
            <a:srgbClr val="F7F9FB"/>
          </a:solidFill>
          <a:ln w="12700">
            <a:solidFill>
              <a:srgbClr val="D8E1EA"/>
            </a:solidFill>
            <a:prstDash val="solid"/>
          </a:ln>
        </p:spPr>
        <p:txBody>
          <a:bodyPr/>
          <a:lstStyle/>
          <a:p>
            <a:endParaRPr/>
          </a:p>
        </p:txBody>
      </p:sp>
      <p:sp>
        <p:nvSpPr>
          <p:cNvPr id="9" name="Shape 7"/>
          <p:cNvSpPr/>
          <p:nvPr/>
        </p:nvSpPr>
        <p:spPr>
          <a:xfrm>
            <a:off x="868680" y="1874520"/>
            <a:ext cx="73152" cy="2103120"/>
          </a:xfrm>
          <a:prstGeom prst="rect">
            <a:avLst/>
          </a:prstGeom>
          <a:solidFill>
            <a:srgbClr val="2E6F9E"/>
          </a:solidFill>
          <a:ln w="12700">
            <a:solidFill>
              <a:srgbClr val="2E6F9E"/>
            </a:solidFill>
            <a:prstDash val="solid"/>
          </a:ln>
        </p:spPr>
        <p:txBody>
          <a:bodyPr/>
          <a:lstStyle/>
          <a:p>
            <a:endParaRPr/>
          </a:p>
        </p:txBody>
      </p:sp>
      <p:sp>
        <p:nvSpPr>
          <p:cNvPr id="10" name="Text 8"/>
          <p:cNvSpPr/>
          <p:nvPr/>
        </p:nvSpPr>
        <p:spPr>
          <a:xfrm>
            <a:off x="1106424" y="2039112"/>
            <a:ext cx="2825496" cy="320040"/>
          </a:xfrm>
          <a:prstGeom prst="rect">
            <a:avLst/>
          </a:prstGeom>
          <a:noFill/>
          <a:ln/>
        </p:spPr>
        <p:txBody>
          <a:bodyPr wrap="square" lIns="0" tIns="0" rIns="0" bIns="0" rtlCol="0" anchor="ctr"/>
          <a:lstStyle/>
          <a:p>
            <a:pPr marL="0" indent="0">
              <a:buNone/>
            </a:pPr>
            <a:r>
              <a:rPr lang="en-US" sz="1800" b="1" dirty="0">
                <a:solidFill>
                  <a:srgbClr val="18304A"/>
                </a:solidFill>
              </a:rPr>
              <a:t>School labs</a:t>
            </a:r>
            <a:endParaRPr lang="en-US" sz="1800" dirty="0"/>
          </a:p>
        </p:txBody>
      </p:sp>
      <p:sp>
        <p:nvSpPr>
          <p:cNvPr id="11" name="Text 9"/>
          <p:cNvSpPr/>
          <p:nvPr/>
        </p:nvSpPr>
        <p:spPr>
          <a:xfrm>
            <a:off x="1106424" y="2532888"/>
            <a:ext cx="2825496" cy="1280160"/>
          </a:xfrm>
          <a:prstGeom prst="rect">
            <a:avLst/>
          </a:prstGeom>
          <a:noFill/>
          <a:ln/>
        </p:spPr>
        <p:txBody>
          <a:bodyPr wrap="square" lIns="0" tIns="0" rIns="0" bIns="0" rtlCol="0" anchor="ctr">
            <a:normAutofit/>
          </a:bodyPr>
          <a:lstStyle/>
          <a:p>
            <a:r>
              <a:t>Create a VM for class without changing the real computer.</a:t>
            </a:r>
          </a:p>
        </p:txBody>
      </p:sp>
      <p:sp>
        <p:nvSpPr>
          <p:cNvPr id="12" name="Shape 10"/>
          <p:cNvSpPr/>
          <p:nvPr/>
        </p:nvSpPr>
        <p:spPr>
          <a:xfrm>
            <a:off x="4480560" y="1874520"/>
            <a:ext cx="3246120" cy="2103120"/>
          </a:xfrm>
          <a:prstGeom prst="roundRect">
            <a:avLst>
              <a:gd name="adj" fmla="val 5217"/>
            </a:avLst>
          </a:prstGeom>
          <a:solidFill>
            <a:srgbClr val="F7F9FB"/>
          </a:solidFill>
          <a:ln w="12700">
            <a:solidFill>
              <a:srgbClr val="D8E1EA"/>
            </a:solidFill>
            <a:prstDash val="solid"/>
          </a:ln>
        </p:spPr>
        <p:txBody>
          <a:bodyPr/>
          <a:lstStyle/>
          <a:p>
            <a:endParaRPr/>
          </a:p>
        </p:txBody>
      </p:sp>
      <p:sp>
        <p:nvSpPr>
          <p:cNvPr id="13" name="Shape 11"/>
          <p:cNvSpPr/>
          <p:nvPr/>
        </p:nvSpPr>
        <p:spPr>
          <a:xfrm>
            <a:off x="4480560" y="1874520"/>
            <a:ext cx="73152" cy="2103120"/>
          </a:xfrm>
          <a:prstGeom prst="rect">
            <a:avLst/>
          </a:prstGeom>
          <a:solidFill>
            <a:srgbClr val="5AA469"/>
          </a:solidFill>
          <a:ln w="12700">
            <a:solidFill>
              <a:srgbClr val="5AA469"/>
            </a:solidFill>
            <a:prstDash val="solid"/>
          </a:ln>
        </p:spPr>
        <p:txBody>
          <a:bodyPr/>
          <a:lstStyle/>
          <a:p>
            <a:endParaRPr/>
          </a:p>
        </p:txBody>
      </p:sp>
      <p:sp>
        <p:nvSpPr>
          <p:cNvPr id="14" name="Text 12"/>
          <p:cNvSpPr/>
          <p:nvPr/>
        </p:nvSpPr>
        <p:spPr>
          <a:xfrm>
            <a:off x="4718304" y="2039112"/>
            <a:ext cx="2825496" cy="320040"/>
          </a:xfrm>
          <a:prstGeom prst="rect">
            <a:avLst/>
          </a:prstGeom>
          <a:noFill/>
          <a:ln/>
        </p:spPr>
        <p:txBody>
          <a:bodyPr wrap="square" lIns="0" tIns="0" rIns="0" bIns="0" rtlCol="0" anchor="ctr"/>
          <a:lstStyle/>
          <a:p>
            <a:pPr marL="0" indent="0">
              <a:buNone/>
            </a:pPr>
            <a:r>
              <a:rPr lang="en-US" sz="1800" b="1" dirty="0">
                <a:solidFill>
                  <a:srgbClr val="18304A"/>
                </a:solidFill>
              </a:rPr>
              <a:t>Cyber practice</a:t>
            </a:r>
            <a:endParaRPr lang="en-US" sz="1800" dirty="0"/>
          </a:p>
        </p:txBody>
      </p:sp>
      <p:sp>
        <p:nvSpPr>
          <p:cNvPr id="15" name="Text 13"/>
          <p:cNvSpPr/>
          <p:nvPr/>
        </p:nvSpPr>
        <p:spPr>
          <a:xfrm>
            <a:off x="4718304" y="2532888"/>
            <a:ext cx="2825496" cy="1280160"/>
          </a:xfrm>
          <a:prstGeom prst="rect">
            <a:avLst/>
          </a:prstGeom>
          <a:noFill/>
          <a:ln/>
        </p:spPr>
        <p:txBody>
          <a:bodyPr wrap="square" lIns="0" tIns="0" rIns="0" bIns="0" rtlCol="0" anchor="ctr">
            <a:normAutofit/>
          </a:bodyPr>
          <a:lstStyle/>
          <a:p>
            <a:r>
              <a:t>Practice Linux, networking, and commands safely.</a:t>
            </a:r>
          </a:p>
        </p:txBody>
      </p:sp>
      <p:sp>
        <p:nvSpPr>
          <p:cNvPr id="16" name="Shape 14"/>
          <p:cNvSpPr/>
          <p:nvPr/>
        </p:nvSpPr>
        <p:spPr>
          <a:xfrm>
            <a:off x="8092440" y="1874520"/>
            <a:ext cx="3246120" cy="2103120"/>
          </a:xfrm>
          <a:prstGeom prst="roundRect">
            <a:avLst>
              <a:gd name="adj" fmla="val 5217"/>
            </a:avLst>
          </a:prstGeom>
          <a:solidFill>
            <a:srgbClr val="F7F9FB"/>
          </a:solidFill>
          <a:ln w="12700">
            <a:solidFill>
              <a:srgbClr val="D8E1EA"/>
            </a:solidFill>
            <a:prstDash val="solid"/>
          </a:ln>
        </p:spPr>
        <p:txBody>
          <a:bodyPr/>
          <a:lstStyle/>
          <a:p>
            <a:endParaRPr/>
          </a:p>
        </p:txBody>
      </p:sp>
      <p:sp>
        <p:nvSpPr>
          <p:cNvPr id="17" name="Shape 15"/>
          <p:cNvSpPr/>
          <p:nvPr/>
        </p:nvSpPr>
        <p:spPr>
          <a:xfrm>
            <a:off x="8092440" y="1874520"/>
            <a:ext cx="73152" cy="2103120"/>
          </a:xfrm>
          <a:prstGeom prst="rect">
            <a:avLst/>
          </a:prstGeom>
          <a:solidFill>
            <a:srgbClr val="F4A259"/>
          </a:solidFill>
          <a:ln w="12700">
            <a:solidFill>
              <a:srgbClr val="F4A259"/>
            </a:solidFill>
            <a:prstDash val="solid"/>
          </a:ln>
        </p:spPr>
        <p:txBody>
          <a:bodyPr/>
          <a:lstStyle/>
          <a:p>
            <a:endParaRPr/>
          </a:p>
        </p:txBody>
      </p:sp>
      <p:sp>
        <p:nvSpPr>
          <p:cNvPr id="18" name="Text 16"/>
          <p:cNvSpPr/>
          <p:nvPr/>
        </p:nvSpPr>
        <p:spPr>
          <a:xfrm>
            <a:off x="8330184" y="2039112"/>
            <a:ext cx="2825496" cy="320040"/>
          </a:xfrm>
          <a:prstGeom prst="rect">
            <a:avLst/>
          </a:prstGeom>
          <a:noFill/>
          <a:ln/>
        </p:spPr>
        <p:txBody>
          <a:bodyPr wrap="square" lIns="0" tIns="0" rIns="0" bIns="0" rtlCol="0" anchor="ctr"/>
          <a:lstStyle/>
          <a:p>
            <a:pPr marL="0" indent="0">
              <a:buNone/>
            </a:pPr>
            <a:r>
              <a:rPr lang="en-US" sz="1800" b="1" dirty="0">
                <a:solidFill>
                  <a:srgbClr val="18304A"/>
                </a:solidFill>
              </a:rPr>
              <a:t>Software testing</a:t>
            </a:r>
            <a:endParaRPr lang="en-US" sz="1800" dirty="0"/>
          </a:p>
        </p:txBody>
      </p:sp>
      <p:sp>
        <p:nvSpPr>
          <p:cNvPr id="19" name="Text 17"/>
          <p:cNvSpPr/>
          <p:nvPr/>
        </p:nvSpPr>
        <p:spPr>
          <a:xfrm>
            <a:off x="8330184" y="2532888"/>
            <a:ext cx="2825496" cy="1280160"/>
          </a:xfrm>
          <a:prstGeom prst="rect">
            <a:avLst/>
          </a:prstGeom>
          <a:noFill/>
          <a:ln/>
        </p:spPr>
        <p:txBody>
          <a:bodyPr wrap="square" lIns="0" tIns="0" rIns="0" bIns="0" rtlCol="0" anchor="ctr">
            <a:normAutofit/>
          </a:bodyPr>
          <a:lstStyle/>
          <a:p>
            <a:r>
              <a:t>Test software on another OS without a second computer.</a:t>
            </a:r>
          </a:p>
        </p:txBody>
      </p:sp>
      <p:sp>
        <p:nvSpPr>
          <p:cNvPr id="20" name="Text 18"/>
          <p:cNvSpPr/>
          <p:nvPr/>
        </p:nvSpPr>
        <p:spPr>
          <a:xfrm>
            <a:off x="1097280" y="4754880"/>
            <a:ext cx="9966960" cy="621792"/>
          </a:xfrm>
          <a:prstGeom prst="rect">
            <a:avLst/>
          </a:prstGeom>
          <a:noFill/>
          <a:ln/>
        </p:spPr>
        <p:txBody>
          <a:bodyPr wrap="square" lIns="0" tIns="0" rIns="0" bIns="0" rtlCol="0" anchor="ctr">
            <a:normAutofit/>
          </a:bodyPr>
          <a:lstStyle/>
          <a:p>
            <a:r>
              <a:t>For big data centers, Type 1 hypervisors are usually better. For class labs, VirtualBox makes sense.</a:t>
            </a:r>
          </a:p>
        </p:txBody>
      </p:sp>
    </p:spTree>
    <p:extLst>
      <p:ext uri="{BB962C8B-B14F-4D97-AF65-F5344CB8AC3E}">
        <p14:creationId xmlns:p14="http://schemas.microsoft.com/office/powerpoint/2010/main" val="4159325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49808"/>
          </a:xfrm>
          <a:prstGeom prst="rect">
            <a:avLst/>
          </a:prstGeom>
          <a:solidFill>
            <a:srgbClr val="1F3B5A"/>
          </a:solidFill>
          <a:ln w="12700">
            <a:solidFill>
              <a:srgbClr val="1F3B5A"/>
            </a:solidFill>
            <a:prstDash val="solid"/>
          </a:ln>
        </p:spPr>
        <p:txBody>
          <a:bodyPr/>
          <a:lstStyle/>
          <a:p>
            <a:endParaRPr/>
          </a:p>
        </p:txBody>
      </p:sp>
      <p:sp>
        <p:nvSpPr>
          <p:cNvPr id="3" name="Text 1"/>
          <p:cNvSpPr/>
          <p:nvPr/>
        </p:nvSpPr>
        <p:spPr>
          <a:xfrm>
            <a:off x="502920" y="164592"/>
            <a:ext cx="8138160" cy="402336"/>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Conclusion + Sources</a:t>
            </a:r>
            <a:endParaRPr lang="en-US" sz="2200" dirty="0"/>
          </a:p>
        </p:txBody>
      </p:sp>
      <p:sp>
        <p:nvSpPr>
          <p:cNvPr id="4" name="Text 2"/>
          <p:cNvSpPr/>
          <p:nvPr/>
        </p:nvSpPr>
        <p:spPr>
          <a:xfrm>
            <a:off x="8732520" y="228600"/>
            <a:ext cx="2834640" cy="274320"/>
          </a:xfrm>
          <a:prstGeom prst="rect">
            <a:avLst/>
          </a:prstGeom>
          <a:noFill/>
          <a:ln/>
        </p:spPr>
        <p:txBody>
          <a:bodyPr wrap="square" lIns="0" tIns="0" rIns="0" bIns="0" rtlCol="0" anchor="ctr"/>
          <a:lstStyle/>
          <a:p>
            <a:pPr marL="0" indent="0" algn="r">
              <a:buNone/>
            </a:pPr>
            <a:r>
              <a:rPr lang="en-US" sz="1050" dirty="0">
                <a:solidFill>
                  <a:srgbClr val="D6E2EF"/>
                </a:solidFill>
              </a:rPr>
              <a:t>Wrap-up</a:t>
            </a:r>
            <a:endParaRPr lang="en-US" sz="1050" dirty="0"/>
          </a:p>
        </p:txBody>
      </p:sp>
      <p:sp>
        <p:nvSpPr>
          <p:cNvPr id="5" name="Shape 3"/>
          <p:cNvSpPr/>
          <p:nvPr/>
        </p:nvSpPr>
        <p:spPr>
          <a:xfrm>
            <a:off x="502920" y="6355080"/>
            <a:ext cx="11155680" cy="0"/>
          </a:xfrm>
          <a:prstGeom prst="line">
            <a:avLst/>
          </a:prstGeom>
          <a:noFill/>
          <a:ln w="8890">
            <a:solidFill>
              <a:srgbClr val="CED8E2"/>
            </a:solidFill>
            <a:prstDash val="solid"/>
          </a:ln>
        </p:spPr>
        <p:txBody>
          <a:bodyPr/>
          <a:lstStyle/>
          <a:p>
            <a:endParaRPr/>
          </a:p>
        </p:txBody>
      </p:sp>
      <p:sp>
        <p:nvSpPr>
          <p:cNvPr id="6" name="Text 4"/>
          <p:cNvSpPr/>
          <p:nvPr/>
        </p:nvSpPr>
        <p:spPr>
          <a:xfrm>
            <a:off x="502920" y="6419088"/>
            <a:ext cx="5943600" cy="219456"/>
          </a:xfrm>
          <a:prstGeom prst="rect">
            <a:avLst/>
          </a:prstGeom>
          <a:noFill/>
          <a:ln/>
        </p:spPr>
        <p:txBody>
          <a:bodyPr wrap="square" lIns="0" tIns="0" rIns="0" bIns="0" rtlCol="0" anchor="ctr"/>
          <a:lstStyle/>
          <a:p>
            <a:pPr marL="0" indent="0">
              <a:buNone/>
            </a:pPr>
            <a:r>
              <a:rPr lang="en-US" sz="850" dirty="0">
                <a:solidFill>
                  <a:srgbClr val="526476"/>
                </a:solidFill>
              </a:rPr>
              <a:t>CYB120L 1.3 In-Class Activity • Hypervisors</a:t>
            </a:r>
            <a:endParaRPr lang="en-US" sz="850" dirty="0"/>
          </a:p>
        </p:txBody>
      </p:sp>
      <p:sp>
        <p:nvSpPr>
          <p:cNvPr id="7" name="Text 5"/>
          <p:cNvSpPr/>
          <p:nvPr/>
        </p:nvSpPr>
        <p:spPr>
          <a:xfrm>
            <a:off x="777240" y="1051560"/>
            <a:ext cx="2743200" cy="365760"/>
          </a:xfrm>
          <a:prstGeom prst="rect">
            <a:avLst/>
          </a:prstGeom>
          <a:noFill/>
          <a:ln/>
        </p:spPr>
        <p:txBody>
          <a:bodyPr wrap="square" lIns="0" tIns="0" rIns="0" bIns="0" rtlCol="0" anchor="ctr"/>
          <a:lstStyle/>
          <a:p>
            <a:pPr marL="0" indent="0">
              <a:buNone/>
            </a:pPr>
            <a:r>
              <a:rPr lang="en-US" sz="2400" b="1" dirty="0">
                <a:solidFill>
                  <a:srgbClr val="18304A"/>
                </a:solidFill>
              </a:rPr>
              <a:t>Conclusion</a:t>
            </a:r>
            <a:endParaRPr lang="en-US" sz="2400" dirty="0"/>
          </a:p>
        </p:txBody>
      </p:sp>
      <p:sp>
        <p:nvSpPr>
          <p:cNvPr id="8" name="Text 6"/>
          <p:cNvSpPr/>
          <p:nvPr/>
        </p:nvSpPr>
        <p:spPr>
          <a:xfrm>
            <a:off x="777240" y="1600200"/>
            <a:ext cx="10424160" cy="1051560"/>
          </a:xfrm>
          <a:prstGeom prst="rect">
            <a:avLst/>
          </a:prstGeom>
          <a:noFill/>
          <a:ln/>
        </p:spPr>
        <p:txBody>
          <a:bodyPr wrap="square" lIns="254" tIns="254" rIns="254" bIns="254" rtlCol="0" anchor="ctr">
            <a:normAutofit/>
          </a:bodyPr>
          <a:lstStyle/>
          <a:p>
            <a:r>
              <a:t>Overall, VirtualBox is a good hypervisor for students because it is free, easy to use, and helpful for labs. It is not the best for big business servers, but it works well for learning and testing.</a:t>
            </a:r>
          </a:p>
        </p:txBody>
      </p:sp>
      <p:sp>
        <p:nvSpPr>
          <p:cNvPr id="9" name="Text 7"/>
          <p:cNvSpPr/>
          <p:nvPr/>
        </p:nvSpPr>
        <p:spPr>
          <a:xfrm>
            <a:off x="777240" y="3108960"/>
            <a:ext cx="2743200" cy="310896"/>
          </a:xfrm>
          <a:prstGeom prst="rect">
            <a:avLst/>
          </a:prstGeom>
          <a:noFill/>
          <a:ln/>
        </p:spPr>
        <p:txBody>
          <a:bodyPr wrap="square" lIns="0" tIns="0" rIns="0" bIns="0" rtlCol="0" anchor="ctr"/>
          <a:lstStyle/>
          <a:p>
            <a:pPr marL="0" indent="0">
              <a:buNone/>
            </a:pPr>
            <a:r>
              <a:rPr lang="en-US" sz="2000" b="1" dirty="0">
                <a:solidFill>
                  <a:srgbClr val="18304A"/>
                </a:solidFill>
              </a:rPr>
              <a:t>Sources used</a:t>
            </a:r>
            <a:endParaRPr lang="en-US" sz="2000" dirty="0"/>
          </a:p>
        </p:txBody>
      </p:sp>
      <p:sp>
        <p:nvSpPr>
          <p:cNvPr id="10" name="Text 8"/>
          <p:cNvSpPr/>
          <p:nvPr/>
        </p:nvSpPr>
        <p:spPr>
          <a:xfrm>
            <a:off x="777240" y="3611880"/>
            <a:ext cx="10607040" cy="1188720"/>
          </a:xfrm>
          <a:prstGeom prst="rect">
            <a:avLst/>
          </a:prstGeom>
          <a:noFill/>
          <a:ln/>
        </p:spPr>
        <p:txBody>
          <a:bodyPr wrap="square" lIns="254" tIns="254" rIns="254" bIns="254" rtlCol="0" anchor="ctr">
            <a:normAutofit/>
          </a:bodyPr>
          <a:lstStyle/>
          <a:p>
            <a:pPr marL="0" indent="0">
              <a:buNone/>
            </a:pPr>
            <a:r>
              <a:rPr lang="en-US" sz="1350" dirty="0">
                <a:solidFill>
                  <a:srgbClr val="16202A"/>
                </a:solidFill>
              </a:rPr>
              <a:t>• Oracle VirtualBox User Manual: https://docs.oracle.com/en/virtualization/virtualbox/7.2/user/EN-VBOX-7-2-USER.pdf</a:t>
            </a:r>
            <a:endParaRPr lang="en-US" sz="1350" dirty="0"/>
          </a:p>
          <a:p>
            <a:pPr marL="0" indent="0">
              <a:buNone/>
            </a:pPr>
            <a:r>
              <a:rPr lang="en-US" sz="1350" dirty="0">
                <a:solidFill>
                  <a:srgbClr val="16202A"/>
                </a:solidFill>
              </a:rPr>
              <a:t>• Oracle VirtualBox Guest Additions: https://docs.oracle.com/en/virtualization/virtualbox/7.2/user/guestadditions.html</a:t>
            </a:r>
            <a:endParaRPr lang="en-US" sz="1350" dirty="0"/>
          </a:p>
          <a:p>
            <a:pPr marL="0" indent="0">
              <a:buNone/>
            </a:pPr>
            <a:r>
              <a:rPr lang="en-US" sz="1350" dirty="0">
                <a:solidFill>
                  <a:srgbClr val="16202A"/>
                </a:solidFill>
              </a:rPr>
              <a:t>• Oracle VirtualBox Snapshots: https://docs.oracle.com/en/virtualization/virtualbox/6.0/user/snapshots.html</a:t>
            </a:r>
            <a:endParaRPr lang="en-US" sz="1350" dirty="0"/>
          </a:p>
        </p:txBody>
      </p:sp>
      <p:sp>
        <p:nvSpPr>
          <p:cNvPr id="11" name="Text 9"/>
          <p:cNvSpPr/>
          <p:nvPr/>
        </p:nvSpPr>
        <p:spPr>
          <a:xfrm>
            <a:off x="1051560" y="5257800"/>
            <a:ext cx="9966960" cy="475488"/>
          </a:xfrm>
          <a:prstGeom prst="rect">
            <a:avLst/>
          </a:prstGeom>
          <a:noFill/>
          <a:ln/>
        </p:spPr>
        <p:txBody>
          <a:bodyPr wrap="square" lIns="0" tIns="0" rIns="0" bIns="0" rtlCol="0" anchor="ctr">
            <a:normAutofit fontScale="92500" lnSpcReduction="10000"/>
          </a:bodyPr>
          <a:lstStyle/>
          <a:p>
            <a:r>
              <a:t>“VirtualBox may not be the most powerful hypervisor, but it is a good choice for students </a:t>
            </a:r>
            <a:r>
              <a:rPr dirty="0"/>
              <a:t>learning virtualization.”</a:t>
            </a:r>
          </a:p>
        </p:txBody>
      </p:sp>
    </p:spTree>
    <p:extLst>
      <p:ext uri="{BB962C8B-B14F-4D97-AF65-F5344CB8AC3E}">
        <p14:creationId xmlns:p14="http://schemas.microsoft.com/office/powerpoint/2010/main" val="3234705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950</Words>
  <Application>Microsoft Office PowerPoint</Application>
  <PresentationFormat>Widescreen</PresentationFormat>
  <Paragraphs>102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 Display</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Thomas Mulloy</dc:creator>
  <cp:lastModifiedBy>Faith Jones</cp:lastModifiedBy>
  <cp:revision>7</cp:revision>
  <dcterms:created xsi:type="dcterms:W3CDTF">2016-06-29T17:12:42Z</dcterms:created>
  <dcterms:modified xsi:type="dcterms:W3CDTF">2026-05-13T12:04:07Z</dcterms:modified>
</cp:coreProperties>
</file>